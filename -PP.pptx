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7" r:id="rId2"/>
    <p:sldId id="258" r:id="rId3"/>
    <p:sldId id="259" r:id="rId4"/>
    <p:sldId id="260" r:id="rId5"/>
    <p:sldId id="261" r:id="rId6"/>
    <p:sldId id="262" r:id="rId7"/>
    <p:sldId id="263" r:id="rId8"/>
    <p:sldId id="264" r:id="rId9"/>
    <p:sldId id="268" r:id="rId10"/>
    <p:sldId id="285" r:id="rId11"/>
    <p:sldId id="266" r:id="rId12"/>
    <p:sldId id="270" r:id="rId13"/>
    <p:sldId id="271" r:id="rId14"/>
    <p:sldId id="286" r:id="rId15"/>
    <p:sldId id="274" r:id="rId16"/>
    <p:sldId id="275" r:id="rId17"/>
    <p:sldId id="276" r:id="rId18"/>
    <p:sldId id="277" r:id="rId19"/>
    <p:sldId id="278" r:id="rId20"/>
    <p:sldId id="279" r:id="rId21"/>
    <p:sldId id="280" r:id="rId22"/>
    <p:sldId id="281" r:id="rId23"/>
    <p:sldId id="282" r:id="rId24"/>
    <p:sldId id="283" r:id="rId25"/>
    <p:sldId id="284" r:id="rId26"/>
    <p:sldId id="287" r:id="rId27"/>
    <p:sldId id="288" r:id="rId28"/>
    <p:sldId id="289" r:id="rId29"/>
    <p:sldId id="29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73D20-DB8C-F973-4B78-82CE813F31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FD864F-ED3D-2DB4-A736-D3527E4A4E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BA4200-362A-66BC-ED7B-E0119CCC1831}"/>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5" name="Footer Placeholder 4">
            <a:extLst>
              <a:ext uri="{FF2B5EF4-FFF2-40B4-BE49-F238E27FC236}">
                <a16:creationId xmlns:a16="http://schemas.microsoft.com/office/drawing/2014/main" id="{75A9C6A6-3625-D920-240C-76482363D0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F0E24-CBB0-1AF8-9A0A-07B19674FEF4}"/>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2819538145"/>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F6A07-18DA-953C-E4A3-1A634D9D79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4EEF96-8D87-DF26-D3E9-D2746F01A8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80C1A-437F-FDCA-A66F-CA78D5B51AC5}"/>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5" name="Footer Placeholder 4">
            <a:extLst>
              <a:ext uri="{FF2B5EF4-FFF2-40B4-BE49-F238E27FC236}">
                <a16:creationId xmlns:a16="http://schemas.microsoft.com/office/drawing/2014/main" id="{C25844F6-D73D-8294-ED24-DFC79F26A7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66A555-19EB-BD64-BA4A-706D071671B6}"/>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1884875900"/>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793B-17A7-B100-38CD-9C6BB4511A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F1A06A-76CE-E3B0-D71F-CFE454ABE6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631618-FD11-4BED-CD01-9C616E2C210A}"/>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5" name="Footer Placeholder 4">
            <a:extLst>
              <a:ext uri="{FF2B5EF4-FFF2-40B4-BE49-F238E27FC236}">
                <a16:creationId xmlns:a16="http://schemas.microsoft.com/office/drawing/2014/main" id="{6F0911B1-6FA0-A9D2-E3AD-4974ADD4A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FBDCF-BAA2-675A-7B6B-50A4EB18E3E8}"/>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2811241031"/>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18E5-120D-7160-51DD-D4BEEB2B3D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333EF-A651-EB75-7542-F8BD082CBA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41EDF4-8110-2C1D-DF3A-AC0E099C10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A8ABE2-8BAA-E4DC-1C85-E9B4B56AD8B3}"/>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6" name="Footer Placeholder 5">
            <a:extLst>
              <a:ext uri="{FF2B5EF4-FFF2-40B4-BE49-F238E27FC236}">
                <a16:creationId xmlns:a16="http://schemas.microsoft.com/office/drawing/2014/main" id="{6A5B4EAC-282B-CB06-FE0D-E375597BE6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C27906-B29B-2E90-8ED0-A14772534A23}"/>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1777478075"/>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458A4-6DAF-18C0-06AE-3AB15D9B91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3386A0-11F2-22BD-5584-14C2BBA918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E92EF5-448D-B682-00A9-CD31005EBF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E88BDF-E652-0933-BB5E-19400F0F0E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1436D5-0FD8-57AB-0A51-512F91191E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316B49-D640-3748-0055-8CC118D3ECAA}"/>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8" name="Footer Placeholder 7">
            <a:extLst>
              <a:ext uri="{FF2B5EF4-FFF2-40B4-BE49-F238E27FC236}">
                <a16:creationId xmlns:a16="http://schemas.microsoft.com/office/drawing/2014/main" id="{208A93CE-F522-3087-3E88-BF6A747FD0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467B00-AEE8-E688-2612-83DF576736A7}"/>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2051971798"/>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2879-68A2-4A54-858E-F5E5AEB11C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82B340-56F4-142A-3123-E9E91AA65D4B}"/>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4" name="Footer Placeholder 3">
            <a:extLst>
              <a:ext uri="{FF2B5EF4-FFF2-40B4-BE49-F238E27FC236}">
                <a16:creationId xmlns:a16="http://schemas.microsoft.com/office/drawing/2014/main" id="{F773B6B5-0907-9428-DBAD-AAD0DDA38A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4C2132-9162-92A3-FC08-304C0DA3ED9C}"/>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134190216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0CE9CE-73BC-41B1-BAEE-28194E811210}"/>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3" name="Footer Placeholder 2">
            <a:extLst>
              <a:ext uri="{FF2B5EF4-FFF2-40B4-BE49-F238E27FC236}">
                <a16:creationId xmlns:a16="http://schemas.microsoft.com/office/drawing/2014/main" id="{3AF2D959-602C-9DED-ED88-97F22F0FE2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6C0E10-823E-4C60-6973-F952FE157A12}"/>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1411162932"/>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D1705-4F40-803F-4807-E063CCBC3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B8F1D1-2516-1081-CC1A-D24101E6F5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225909-3070-C529-DBD6-CADF0F642D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A8D6B3-24AF-CEED-E309-CDE307635F01}"/>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6" name="Footer Placeholder 5">
            <a:extLst>
              <a:ext uri="{FF2B5EF4-FFF2-40B4-BE49-F238E27FC236}">
                <a16:creationId xmlns:a16="http://schemas.microsoft.com/office/drawing/2014/main" id="{05124F67-89B3-12BF-8770-29CD6073CB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33F57-B1E9-2888-7760-C8700FB7247C}"/>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1923552938"/>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FA13-6AE4-919B-9CBC-F55A12FF37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775B8F-4497-DA0D-D3DD-AEF65AB646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3D9DC1-6065-5A61-025A-2573AB1D6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E16C0E-78AB-05DD-49CC-09A797647534}"/>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6" name="Footer Placeholder 5">
            <a:extLst>
              <a:ext uri="{FF2B5EF4-FFF2-40B4-BE49-F238E27FC236}">
                <a16:creationId xmlns:a16="http://schemas.microsoft.com/office/drawing/2014/main" id="{310C6E0F-7E3D-3A51-EC84-06D016887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B094E7-3AED-7BF2-A789-3A91A21282A9}"/>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3310052424"/>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BE4F9-9C03-1E2D-198B-D67FC9D7F0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D1F0D8-7F84-D63B-6E43-F80D443C2B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DF11B-6345-8A2C-DADF-AAAADBFA58F1}"/>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5" name="Footer Placeholder 4">
            <a:extLst>
              <a:ext uri="{FF2B5EF4-FFF2-40B4-BE49-F238E27FC236}">
                <a16:creationId xmlns:a16="http://schemas.microsoft.com/office/drawing/2014/main" id="{ED20EA57-FA95-A91B-953B-50D8FAB0B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ABC76-5251-70D9-A030-BDFE1C76CAB6}"/>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2942412921"/>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6E447F-AF05-450B-C22F-7CB1B1958B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F9C3CA-33FB-308C-C264-D9F3EBD37F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B33543-D6C6-9AC3-D59D-A34112738AD6}"/>
              </a:ext>
            </a:extLst>
          </p:cNvPr>
          <p:cNvSpPr>
            <a:spLocks noGrp="1"/>
          </p:cNvSpPr>
          <p:nvPr>
            <p:ph type="dt" sz="half" idx="10"/>
          </p:nvPr>
        </p:nvSpPr>
        <p:spPr/>
        <p:txBody>
          <a:bodyPr/>
          <a:lstStyle/>
          <a:p>
            <a:fld id="{F12ACB84-EC93-4560-AA0A-96F34F8223B0}" type="datetimeFigureOut">
              <a:rPr lang="en-US" smtClean="0"/>
              <a:t>9/1/2025</a:t>
            </a:fld>
            <a:endParaRPr lang="en-US"/>
          </a:p>
        </p:txBody>
      </p:sp>
      <p:sp>
        <p:nvSpPr>
          <p:cNvPr id="5" name="Footer Placeholder 4">
            <a:extLst>
              <a:ext uri="{FF2B5EF4-FFF2-40B4-BE49-F238E27FC236}">
                <a16:creationId xmlns:a16="http://schemas.microsoft.com/office/drawing/2014/main" id="{9C61507A-A4C7-4866-FAD1-2C8045BF9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525A1-A655-EEF7-0792-514992C4E363}"/>
              </a:ext>
            </a:extLst>
          </p:cNvPr>
          <p:cNvSpPr>
            <a:spLocks noGrp="1"/>
          </p:cNvSpPr>
          <p:nvPr>
            <p:ph type="sldNum" sz="quarter" idx="12"/>
          </p:nvPr>
        </p:nvSpPr>
        <p:spPr/>
        <p:txBody>
          <a:bodyPr/>
          <a:lstStyle/>
          <a:p>
            <a:fld id="{A48ED816-6609-4ADF-AD46-AA84CDE40F29}" type="slidenum">
              <a:rPr lang="en-US" smtClean="0"/>
              <a:t>‹#›</a:t>
            </a:fld>
            <a:endParaRPr lang="en-US"/>
          </a:p>
        </p:txBody>
      </p:sp>
    </p:spTree>
    <p:extLst>
      <p:ext uri="{BB962C8B-B14F-4D97-AF65-F5344CB8AC3E}">
        <p14:creationId xmlns:p14="http://schemas.microsoft.com/office/powerpoint/2010/main" val="3367610683"/>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D0D3A-3C91-1D84-A7AD-47D281263E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0D8178-7696-EC06-BE39-77FF1269C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B5A983-88EA-A886-E6B7-F9E69BE6AC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2ACB84-EC93-4560-AA0A-96F34F8223B0}" type="datetimeFigureOut">
              <a:rPr lang="en-US" smtClean="0"/>
              <a:t>9/1/2025</a:t>
            </a:fld>
            <a:endParaRPr lang="en-US"/>
          </a:p>
        </p:txBody>
      </p:sp>
      <p:sp>
        <p:nvSpPr>
          <p:cNvPr id="5" name="Footer Placeholder 4">
            <a:extLst>
              <a:ext uri="{FF2B5EF4-FFF2-40B4-BE49-F238E27FC236}">
                <a16:creationId xmlns:a16="http://schemas.microsoft.com/office/drawing/2014/main" id="{9F33B799-83C5-C0D8-EFCD-4FD21572AD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4C4AB9-9283-65D4-6EFF-45A6D72A2C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ED816-6609-4ADF-AD46-AA84CDE40F29}" type="slidenum">
              <a:rPr lang="en-US" smtClean="0"/>
              <a:t>‹#›</a:t>
            </a:fld>
            <a:endParaRPr lang="en-US"/>
          </a:p>
        </p:txBody>
      </p:sp>
    </p:spTree>
    <p:extLst>
      <p:ext uri="{BB962C8B-B14F-4D97-AF65-F5344CB8AC3E}">
        <p14:creationId xmlns:p14="http://schemas.microsoft.com/office/powerpoint/2010/main" val="344102224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01339070-45BD-FDE9-563E-A7AB39D23D3F}"/>
              </a:ext>
            </a:extLst>
          </p:cNvPr>
          <p:cNvSpPr/>
          <p:nvPr/>
        </p:nvSpPr>
        <p:spPr>
          <a:xfrm>
            <a:off x="1096295" y="499856"/>
            <a:ext cx="5412659" cy="1839212"/>
          </a:xfrm>
          <a:custGeom>
            <a:avLst/>
            <a:gdLst/>
            <a:ahLst/>
            <a:cxnLst/>
            <a:rect l="l" t="t" r="r" b="b"/>
            <a:pathLst>
              <a:path w="11256970" h="3723680">
                <a:moveTo>
                  <a:pt x="0" y="0"/>
                </a:moveTo>
                <a:lnTo>
                  <a:pt x="11256969" y="0"/>
                </a:lnTo>
                <a:lnTo>
                  <a:pt x="11256969" y="3723680"/>
                </a:lnTo>
                <a:lnTo>
                  <a:pt x="0" y="3723680"/>
                </a:lnTo>
                <a:lnTo>
                  <a:pt x="0" y="0"/>
                </a:lnTo>
                <a:close/>
              </a:path>
            </a:pathLst>
          </a:custGeom>
          <a:blipFill>
            <a:blip r:embed="rId2"/>
            <a:stretch>
              <a:fillRect/>
            </a:stretch>
          </a:blipFill>
        </p:spPr>
        <p:txBody>
          <a:bodyPr/>
          <a:lstStyle/>
          <a:p>
            <a:endParaRPr lang="en-US" dirty="0"/>
          </a:p>
        </p:txBody>
      </p:sp>
      <p:sp>
        <p:nvSpPr>
          <p:cNvPr id="3" name="TextBox 2">
            <a:extLst>
              <a:ext uri="{FF2B5EF4-FFF2-40B4-BE49-F238E27FC236}">
                <a16:creationId xmlns:a16="http://schemas.microsoft.com/office/drawing/2014/main" id="{A593A02B-5549-911F-2E88-AD79805F6B7D}"/>
              </a:ext>
            </a:extLst>
          </p:cNvPr>
          <p:cNvSpPr txBox="1"/>
          <p:nvPr/>
        </p:nvSpPr>
        <p:spPr>
          <a:xfrm>
            <a:off x="850489" y="2762174"/>
            <a:ext cx="6341806" cy="646331"/>
          </a:xfrm>
          <a:prstGeom prst="rect">
            <a:avLst/>
          </a:prstGeom>
          <a:noFill/>
        </p:spPr>
        <p:txBody>
          <a:bodyPr wrap="square" rtlCol="0">
            <a:spAutoFit/>
          </a:bodyPr>
          <a:lstStyle/>
          <a:p>
            <a:r>
              <a:rPr lang="en-US" sz="3600" dirty="0">
                <a:solidFill>
                  <a:schemeClr val="tx1">
                    <a:lumMod val="75000"/>
                    <a:lumOff val="25000"/>
                  </a:schemeClr>
                </a:solidFill>
                <a:latin typeface="Sitka Subheading Semibold" pitchFamily="2" charset="0"/>
              </a:rPr>
              <a:t>DATA ANALYST PROJECT ON </a:t>
            </a:r>
          </a:p>
        </p:txBody>
      </p:sp>
      <p:sp>
        <p:nvSpPr>
          <p:cNvPr id="4" name="TextBox 3">
            <a:extLst>
              <a:ext uri="{FF2B5EF4-FFF2-40B4-BE49-F238E27FC236}">
                <a16:creationId xmlns:a16="http://schemas.microsoft.com/office/drawing/2014/main" id="{8F0D7B8B-A07D-2764-958F-40E4BF18A465}"/>
              </a:ext>
            </a:extLst>
          </p:cNvPr>
          <p:cNvSpPr txBox="1"/>
          <p:nvPr/>
        </p:nvSpPr>
        <p:spPr>
          <a:xfrm>
            <a:off x="872611" y="3913916"/>
            <a:ext cx="5860026" cy="1384995"/>
          </a:xfrm>
          <a:prstGeom prst="rect">
            <a:avLst/>
          </a:prstGeom>
          <a:noFill/>
        </p:spPr>
        <p:txBody>
          <a:bodyPr wrap="square" rtlCol="0">
            <a:spAutoFit/>
          </a:bodyPr>
          <a:lstStyle/>
          <a:p>
            <a:pPr algn="just"/>
            <a:r>
              <a:rPr lang="en-US" sz="2800" dirty="0">
                <a:solidFill>
                  <a:schemeClr val="tx1">
                    <a:lumMod val="75000"/>
                    <a:lumOff val="25000"/>
                  </a:schemeClr>
                </a:solidFill>
                <a:latin typeface="Sitka Subheading Semibold" pitchFamily="2" charset="0"/>
              </a:rPr>
              <a:t>College Analytics: Exploring ROI, Placements, and Trends with Data-Driven Insights</a:t>
            </a:r>
          </a:p>
        </p:txBody>
      </p:sp>
      <p:pic>
        <p:nvPicPr>
          <p:cNvPr id="15" name="Picture 14">
            <a:extLst>
              <a:ext uri="{FF2B5EF4-FFF2-40B4-BE49-F238E27FC236}">
                <a16:creationId xmlns:a16="http://schemas.microsoft.com/office/drawing/2014/main" id="{AE9618DA-BB7E-B02A-9C72-DCE881EE4248}"/>
              </a:ext>
            </a:extLst>
          </p:cNvPr>
          <p:cNvPicPr>
            <a:picLocks noChangeAspect="1"/>
          </p:cNvPicPr>
          <p:nvPr/>
        </p:nvPicPr>
        <p:blipFill>
          <a:blip r:embed="rId3"/>
          <a:stretch>
            <a:fillRect/>
          </a:stretch>
        </p:blipFill>
        <p:spPr>
          <a:xfrm>
            <a:off x="7472516" y="172416"/>
            <a:ext cx="4338902" cy="6177209"/>
          </a:xfrm>
          <a:prstGeom prst="rect">
            <a:avLst/>
          </a:prstGeom>
        </p:spPr>
      </p:pic>
    </p:spTree>
    <p:extLst>
      <p:ext uri="{BB962C8B-B14F-4D97-AF65-F5344CB8AC3E}">
        <p14:creationId xmlns:p14="http://schemas.microsoft.com/office/powerpoint/2010/main" val="282037616"/>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CC711D-5F94-B358-66E9-810024323F3D}"/>
              </a:ext>
            </a:extLst>
          </p:cNvPr>
          <p:cNvSpPr txBox="1"/>
          <p:nvPr/>
        </p:nvSpPr>
        <p:spPr>
          <a:xfrm>
            <a:off x="2757948" y="178786"/>
            <a:ext cx="6676104" cy="707886"/>
          </a:xfrm>
          <a:prstGeom prst="rect">
            <a:avLst/>
          </a:prstGeom>
          <a:noFill/>
        </p:spPr>
        <p:txBody>
          <a:bodyPr wrap="square" rtlCol="0">
            <a:spAutoFit/>
          </a:bodyPr>
          <a:lstStyle/>
          <a:p>
            <a:r>
              <a:rPr lang="en-US" sz="4000" b="1" dirty="0">
                <a:solidFill>
                  <a:schemeClr val="accent1">
                    <a:lumMod val="75000"/>
                  </a:schemeClr>
                </a:solidFill>
                <a:latin typeface="Arial Black" panose="020B0A04020102020204" pitchFamily="34" charset="0"/>
              </a:rPr>
              <a:t>PROBLEM STATEMENT</a:t>
            </a:r>
          </a:p>
        </p:txBody>
      </p:sp>
      <p:sp>
        <p:nvSpPr>
          <p:cNvPr id="4" name="Rectangle 1">
            <a:extLst>
              <a:ext uri="{FF2B5EF4-FFF2-40B4-BE49-F238E27FC236}">
                <a16:creationId xmlns:a16="http://schemas.microsoft.com/office/drawing/2014/main" id="{1410835E-074D-C940-2033-7DF17F8216BF}"/>
              </a:ext>
            </a:extLst>
          </p:cNvPr>
          <p:cNvSpPr>
            <a:spLocks noChangeArrowheads="1"/>
          </p:cNvSpPr>
          <p:nvPr/>
        </p:nvSpPr>
        <p:spPr bwMode="auto">
          <a:xfrm>
            <a:off x="766916" y="1487601"/>
            <a:ext cx="6292645" cy="419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lumMod val="75000"/>
                    <a:lumOff val="25000"/>
                  </a:schemeClr>
                </a:solidFill>
                <a:effectLst/>
                <a:latin typeface="Sitka Subheading Semibold" pitchFamily="2" charset="0"/>
              </a:rPr>
              <a:t>Every year, thousands of students in India struggle to choose the right engineering college.</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lumMod val="75000"/>
                    <a:lumOff val="25000"/>
                  </a:schemeClr>
                </a:solidFill>
                <a:effectLst/>
                <a:latin typeface="Sitka Subheading Semibold" pitchFamily="2" charset="0"/>
              </a:rPr>
              <a:t>The decision is complicated because:</a:t>
            </a:r>
          </a:p>
          <a:p>
            <a:pPr marL="914400" lvl="1" indent="-457200" eaLnBrk="0" fontAlgn="base" hangingPunct="0">
              <a:spcBef>
                <a:spcPct val="0"/>
              </a:spcBef>
              <a:spcAft>
                <a:spcPct val="0"/>
              </a:spcAft>
              <a:buFont typeface="+mj-lt"/>
              <a:buAutoNum type="alphaLcParenR"/>
            </a:pPr>
            <a:r>
              <a:rPr kumimoji="0" lang="en-US" altLang="en-US" sz="2000" i="0" u="none" strike="noStrike" cap="none" normalizeH="0" baseline="0" dirty="0">
                <a:ln>
                  <a:noFill/>
                </a:ln>
                <a:solidFill>
                  <a:schemeClr val="tx1">
                    <a:lumMod val="75000"/>
                    <a:lumOff val="25000"/>
                  </a:schemeClr>
                </a:solidFill>
                <a:effectLst/>
                <a:latin typeface="Sitka Subheading Semibold" pitchFamily="2" charset="0"/>
              </a:rPr>
              <a:t>High tuition fees vs. uncertain placement packages</a:t>
            </a:r>
          </a:p>
          <a:p>
            <a:pPr marL="914400" lvl="1" indent="-457200" eaLnBrk="0" fontAlgn="base" hangingPunct="0">
              <a:spcBef>
                <a:spcPct val="0"/>
              </a:spcBef>
              <a:spcAft>
                <a:spcPct val="0"/>
              </a:spcAft>
              <a:buFont typeface="+mj-lt"/>
              <a:buAutoNum type="alphaLcParenR"/>
            </a:pPr>
            <a:r>
              <a:rPr kumimoji="0" lang="en-US" altLang="en-US" sz="2000" i="0" u="none" strike="noStrike" cap="none" normalizeH="0" baseline="0" dirty="0">
                <a:ln>
                  <a:noFill/>
                </a:ln>
                <a:solidFill>
                  <a:schemeClr val="tx1">
                    <a:lumMod val="75000"/>
                    <a:lumOff val="25000"/>
                  </a:schemeClr>
                </a:solidFill>
                <a:effectLst/>
                <a:latin typeface="Sitka Subheading Semibold" pitchFamily="2" charset="0"/>
              </a:rPr>
              <a:t>Multiple entrance exams and confusion about eligibility</a:t>
            </a:r>
          </a:p>
          <a:p>
            <a:pPr marL="914400" lvl="1" indent="-457200" eaLnBrk="0" fontAlgn="base" hangingPunct="0">
              <a:spcBef>
                <a:spcPct val="0"/>
              </a:spcBef>
              <a:spcAft>
                <a:spcPct val="0"/>
              </a:spcAft>
              <a:buFont typeface="+mj-lt"/>
              <a:buAutoNum type="alphaLcParenR"/>
            </a:pPr>
            <a:r>
              <a:rPr kumimoji="0" lang="en-US" altLang="en-US" sz="2000" i="0" u="none" strike="noStrike" cap="none" normalizeH="0" baseline="0" dirty="0">
                <a:ln>
                  <a:noFill/>
                </a:ln>
                <a:solidFill>
                  <a:schemeClr val="tx1">
                    <a:lumMod val="75000"/>
                    <a:lumOff val="25000"/>
                  </a:schemeClr>
                </a:solidFill>
                <a:effectLst/>
                <a:latin typeface="Sitka Subheading Semibold" pitchFamily="2" charset="0"/>
              </a:rPr>
              <a:t>Lack of clear information on Return on Investment (ROI)</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lumMod val="75000"/>
                    <a:lumOff val="25000"/>
                  </a:schemeClr>
                </a:solidFill>
                <a:effectLst/>
                <a:latin typeface="Sitka Subheading Semibold" pitchFamily="2" charset="0"/>
              </a:rPr>
              <a:t>Students need data-driven insights to make smarter choices about their future.</a:t>
            </a:r>
          </a:p>
        </p:txBody>
      </p:sp>
      <p:pic>
        <p:nvPicPr>
          <p:cNvPr id="6" name="Picture 5">
            <a:extLst>
              <a:ext uri="{FF2B5EF4-FFF2-40B4-BE49-F238E27FC236}">
                <a16:creationId xmlns:a16="http://schemas.microsoft.com/office/drawing/2014/main" id="{578580A2-670E-D10E-850B-EFFCDCAFE863}"/>
              </a:ext>
            </a:extLst>
          </p:cNvPr>
          <p:cNvPicPr>
            <a:picLocks noChangeAspect="1"/>
          </p:cNvPicPr>
          <p:nvPr/>
        </p:nvPicPr>
        <p:blipFill>
          <a:blip r:embed="rId2"/>
          <a:stretch>
            <a:fillRect/>
          </a:stretch>
        </p:blipFill>
        <p:spPr>
          <a:xfrm>
            <a:off x="7184759" y="1245269"/>
            <a:ext cx="4336026" cy="4676388"/>
          </a:xfrm>
          <a:prstGeom prst="rect">
            <a:avLst/>
          </a:prstGeom>
          <a:ln>
            <a:noFill/>
          </a:ln>
          <a:effectLst>
            <a:softEdge rad="112500"/>
          </a:effectLst>
        </p:spPr>
      </p:pic>
      <p:pic>
        <p:nvPicPr>
          <p:cNvPr id="8" name="Picture 7">
            <a:extLst>
              <a:ext uri="{FF2B5EF4-FFF2-40B4-BE49-F238E27FC236}">
                <a16:creationId xmlns:a16="http://schemas.microsoft.com/office/drawing/2014/main" id="{C8D30A78-04EB-CD4D-86EA-4F717A37B75C}"/>
              </a:ext>
            </a:extLst>
          </p:cNvPr>
          <p:cNvPicPr>
            <a:picLocks noChangeAspect="1"/>
          </p:cNvPicPr>
          <p:nvPr/>
        </p:nvPicPr>
        <p:blipFill>
          <a:blip r:embed="rId3"/>
          <a:stretch>
            <a:fillRect/>
          </a:stretch>
        </p:blipFill>
        <p:spPr>
          <a:xfrm>
            <a:off x="2023379" y="178785"/>
            <a:ext cx="537924" cy="707887"/>
          </a:xfrm>
          <a:prstGeom prst="rect">
            <a:avLst/>
          </a:prstGeom>
          <a:ln>
            <a:noFill/>
          </a:ln>
          <a:effectLst>
            <a:softEdge rad="112500"/>
          </a:effectLst>
        </p:spPr>
      </p:pic>
      <p:pic>
        <p:nvPicPr>
          <p:cNvPr id="9" name="Picture 8">
            <a:extLst>
              <a:ext uri="{FF2B5EF4-FFF2-40B4-BE49-F238E27FC236}">
                <a16:creationId xmlns:a16="http://schemas.microsoft.com/office/drawing/2014/main" id="{7627ABD9-41D6-FC9A-7F1F-4E810CF92221}"/>
              </a:ext>
            </a:extLst>
          </p:cNvPr>
          <p:cNvPicPr>
            <a:picLocks noChangeAspect="1"/>
          </p:cNvPicPr>
          <p:nvPr/>
        </p:nvPicPr>
        <p:blipFill>
          <a:blip r:embed="rId3"/>
          <a:stretch>
            <a:fillRect/>
          </a:stretch>
        </p:blipFill>
        <p:spPr>
          <a:xfrm>
            <a:off x="9549972" y="178786"/>
            <a:ext cx="537924" cy="707887"/>
          </a:xfrm>
          <a:prstGeom prst="rect">
            <a:avLst/>
          </a:prstGeom>
          <a:ln>
            <a:noFill/>
          </a:ln>
          <a:effectLst>
            <a:softEdge rad="112500"/>
          </a:effectLst>
        </p:spPr>
      </p:pic>
    </p:spTree>
    <p:extLst>
      <p:ext uri="{BB962C8B-B14F-4D97-AF65-F5344CB8AC3E}">
        <p14:creationId xmlns:p14="http://schemas.microsoft.com/office/powerpoint/2010/main" val="1042703270"/>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B5C6FC-9891-9550-C489-1AD3AE70FC05}"/>
              </a:ext>
            </a:extLst>
          </p:cNvPr>
          <p:cNvSpPr txBox="1"/>
          <p:nvPr/>
        </p:nvSpPr>
        <p:spPr>
          <a:xfrm>
            <a:off x="4178709" y="363792"/>
            <a:ext cx="5191432" cy="707886"/>
          </a:xfrm>
          <a:prstGeom prst="rect">
            <a:avLst/>
          </a:prstGeom>
          <a:noFill/>
        </p:spPr>
        <p:txBody>
          <a:bodyPr wrap="square" rtlCol="0">
            <a:spAutoFit/>
          </a:bodyPr>
          <a:lstStyle/>
          <a:p>
            <a:r>
              <a:rPr lang="en-US" sz="4000" dirty="0">
                <a:solidFill>
                  <a:schemeClr val="accent1">
                    <a:lumMod val="75000"/>
                  </a:schemeClr>
                </a:solidFill>
                <a:latin typeface="Arial Black" panose="020B0A04020102020204" pitchFamily="34" charset="0"/>
              </a:rPr>
              <a:t>OBJECTIVE</a:t>
            </a:r>
            <a:r>
              <a:rPr lang="en-US" sz="4000" dirty="0">
                <a:solidFill>
                  <a:schemeClr val="accent1">
                    <a:lumMod val="75000"/>
                  </a:schemeClr>
                </a:solidFill>
              </a:rPr>
              <a:t> </a:t>
            </a:r>
          </a:p>
        </p:txBody>
      </p:sp>
      <p:sp>
        <p:nvSpPr>
          <p:cNvPr id="5" name="Rectangle 2">
            <a:extLst>
              <a:ext uri="{FF2B5EF4-FFF2-40B4-BE49-F238E27FC236}">
                <a16:creationId xmlns:a16="http://schemas.microsoft.com/office/drawing/2014/main" id="{8FEB60F8-7009-56BE-9330-EF6D376821CB}"/>
              </a:ext>
            </a:extLst>
          </p:cNvPr>
          <p:cNvSpPr>
            <a:spLocks noChangeArrowheads="1"/>
          </p:cNvSpPr>
          <p:nvPr/>
        </p:nvSpPr>
        <p:spPr bwMode="auto">
          <a:xfrm>
            <a:off x="742336" y="1578831"/>
            <a:ext cx="6032089" cy="4349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lumMod val="75000"/>
                    <a:lumOff val="25000"/>
                  </a:schemeClr>
                </a:solidFill>
                <a:effectLst/>
                <a:latin typeface="Sitka Subheading Semibold" pitchFamily="2" charset="0"/>
              </a:rPr>
              <a:t>To provide data-driven insights that help students make informed college decisions.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lumMod val="75000"/>
                    <a:lumOff val="25000"/>
                  </a:schemeClr>
                </a:solidFill>
                <a:effectLst/>
                <a:latin typeface="Sitka Subheading Semibold" pitchFamily="2" charset="0"/>
              </a:rPr>
              <a:t>Key goals of the project:</a:t>
            </a:r>
          </a:p>
          <a:p>
            <a:pPr marL="800100" lvl="1" indent="-342900" eaLnBrk="0" fontAlgn="base" hangingPunct="0">
              <a:spcBef>
                <a:spcPct val="0"/>
              </a:spcBef>
              <a:spcAft>
                <a:spcPct val="0"/>
              </a:spcAft>
              <a:buFont typeface="+mj-lt"/>
              <a:buAutoNum type="arabicParenR"/>
            </a:pPr>
            <a:r>
              <a:rPr lang="en-US" altLang="en-US" b="1" dirty="0">
                <a:solidFill>
                  <a:schemeClr val="tx1">
                    <a:lumMod val="75000"/>
                    <a:lumOff val="25000"/>
                  </a:schemeClr>
                </a:solidFill>
                <a:latin typeface="Sitka Subheading Semibold" pitchFamily="2" charset="0"/>
              </a:rPr>
              <a:t> </a:t>
            </a:r>
            <a:r>
              <a:rPr kumimoji="0" lang="en-US" altLang="en-US" b="1" i="0" u="none" strike="noStrike" cap="none" normalizeH="0" baseline="0" dirty="0">
                <a:ln>
                  <a:noFill/>
                </a:ln>
                <a:solidFill>
                  <a:schemeClr val="tx1">
                    <a:lumMod val="75000"/>
                    <a:lumOff val="25000"/>
                  </a:schemeClr>
                </a:solidFill>
                <a:effectLst/>
                <a:latin typeface="Sitka Subheading Semibold" pitchFamily="2" charset="0"/>
              </a:rPr>
              <a:t>Analyze tuition fees, placements, ratings, and entrance exams of top colleges.</a:t>
            </a:r>
          </a:p>
          <a:p>
            <a:pPr marL="800100" lvl="1" indent="-342900" eaLnBrk="0" fontAlgn="base" hangingPunct="0">
              <a:spcBef>
                <a:spcPct val="0"/>
              </a:spcBef>
              <a:spcAft>
                <a:spcPct val="0"/>
              </a:spcAft>
              <a:buFont typeface="+mj-lt"/>
              <a:buAutoNum type="arabicParenR"/>
            </a:pPr>
            <a:r>
              <a:rPr kumimoji="0" lang="en-US" altLang="en-US" b="1" i="0" u="none" strike="noStrike" cap="none" normalizeH="0" baseline="0" dirty="0">
                <a:ln>
                  <a:noFill/>
                </a:ln>
                <a:solidFill>
                  <a:schemeClr val="tx1">
                    <a:lumMod val="75000"/>
                    <a:lumOff val="25000"/>
                  </a:schemeClr>
                </a:solidFill>
                <a:effectLst/>
                <a:latin typeface="Sitka Subheading Semibold" pitchFamily="2" charset="0"/>
              </a:rPr>
              <a:t> Identify ROI (Return on Investment) by comparing placements vs. fees.</a:t>
            </a:r>
          </a:p>
          <a:p>
            <a:pPr marL="800100" lvl="1" indent="-342900" eaLnBrk="0" fontAlgn="base" hangingPunct="0">
              <a:spcBef>
                <a:spcPct val="0"/>
              </a:spcBef>
              <a:spcAft>
                <a:spcPct val="0"/>
              </a:spcAft>
              <a:buFont typeface="+mj-lt"/>
              <a:buAutoNum type="arabicParenR"/>
            </a:pPr>
            <a:r>
              <a:rPr kumimoji="0" lang="en-US" altLang="en-US" b="1" i="0" u="none" strike="noStrike" cap="none" normalizeH="0" baseline="0" dirty="0">
                <a:ln>
                  <a:noFill/>
                </a:ln>
                <a:solidFill>
                  <a:schemeClr val="tx1">
                    <a:lumMod val="75000"/>
                    <a:lumOff val="25000"/>
                  </a:schemeClr>
                </a:solidFill>
                <a:effectLst/>
                <a:latin typeface="Sitka Subheading Semibold" pitchFamily="2" charset="0"/>
              </a:rPr>
              <a:t>Compare colleges across locations and entrance exams.</a:t>
            </a:r>
          </a:p>
          <a:p>
            <a:pPr marL="800100" lvl="1" indent="-342900" eaLnBrk="0" fontAlgn="base" hangingPunct="0">
              <a:spcBef>
                <a:spcPct val="0"/>
              </a:spcBef>
              <a:spcAft>
                <a:spcPct val="0"/>
              </a:spcAft>
              <a:buFont typeface="+mj-lt"/>
              <a:buAutoNum type="arabicParenR"/>
            </a:pPr>
            <a:r>
              <a:rPr kumimoji="0" lang="en-US" altLang="en-US" b="1" i="0" u="none" strike="noStrike" cap="none" normalizeH="0" baseline="0" dirty="0">
                <a:ln>
                  <a:noFill/>
                </a:ln>
                <a:solidFill>
                  <a:schemeClr val="tx1">
                    <a:lumMod val="75000"/>
                    <a:lumOff val="25000"/>
                  </a:schemeClr>
                </a:solidFill>
                <a:effectLst/>
                <a:latin typeface="Sitka Subheading Semibold" pitchFamily="2" charset="0"/>
              </a:rPr>
              <a:t>Highlight hidden gems – colleges with affordable fees but strong placements.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lumMod val="75000"/>
                    <a:lumOff val="25000"/>
                  </a:schemeClr>
                </a:solidFill>
                <a:effectLst/>
                <a:latin typeface="Sitka Subheading Semibold" pitchFamily="2" charset="0"/>
              </a:rPr>
              <a:t>Build a decision-support system that acts as a guide for students in choosing the right college.</a:t>
            </a:r>
          </a:p>
        </p:txBody>
      </p:sp>
      <p:pic>
        <p:nvPicPr>
          <p:cNvPr id="7" name="Picture 6">
            <a:extLst>
              <a:ext uri="{FF2B5EF4-FFF2-40B4-BE49-F238E27FC236}">
                <a16:creationId xmlns:a16="http://schemas.microsoft.com/office/drawing/2014/main" id="{BD5907F5-7BB5-4484-5AFF-8DF21D243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9599" y="1306166"/>
            <a:ext cx="4441084" cy="5091243"/>
          </a:xfrm>
          <a:prstGeom prst="rect">
            <a:avLst/>
          </a:prstGeom>
          <a:ln>
            <a:noFill/>
          </a:ln>
          <a:effectLst>
            <a:softEdge rad="112500"/>
          </a:effectLst>
        </p:spPr>
      </p:pic>
    </p:spTree>
    <p:extLst>
      <p:ext uri="{BB962C8B-B14F-4D97-AF65-F5344CB8AC3E}">
        <p14:creationId xmlns:p14="http://schemas.microsoft.com/office/powerpoint/2010/main" val="2694545733"/>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CB67FF-79C3-29EC-6411-F97F61DFC1E8}"/>
              </a:ext>
            </a:extLst>
          </p:cNvPr>
          <p:cNvSpPr txBox="1"/>
          <p:nvPr/>
        </p:nvSpPr>
        <p:spPr>
          <a:xfrm>
            <a:off x="2703871" y="245807"/>
            <a:ext cx="7344696" cy="646331"/>
          </a:xfrm>
          <a:prstGeom prst="rect">
            <a:avLst/>
          </a:prstGeom>
          <a:noFill/>
        </p:spPr>
        <p:txBody>
          <a:bodyPr wrap="square" rtlCol="0">
            <a:spAutoFit/>
          </a:bodyPr>
          <a:lstStyle/>
          <a:p>
            <a:r>
              <a:rPr lang="en-US" sz="3600" dirty="0">
                <a:solidFill>
                  <a:schemeClr val="accent1">
                    <a:lumMod val="75000"/>
                  </a:schemeClr>
                </a:solidFill>
                <a:latin typeface="Arial Black" panose="020B0A04020102020204" pitchFamily="34" charset="0"/>
              </a:rPr>
              <a:t>PROCESS OF THE PROJECT</a:t>
            </a:r>
          </a:p>
        </p:txBody>
      </p:sp>
      <p:sp>
        <p:nvSpPr>
          <p:cNvPr id="6" name="Rectangle 2">
            <a:extLst>
              <a:ext uri="{FF2B5EF4-FFF2-40B4-BE49-F238E27FC236}">
                <a16:creationId xmlns:a16="http://schemas.microsoft.com/office/drawing/2014/main" id="{2BE8F9C6-130B-30F0-528D-F7D2AC03C639}"/>
              </a:ext>
            </a:extLst>
          </p:cNvPr>
          <p:cNvSpPr>
            <a:spLocks noChangeArrowheads="1"/>
          </p:cNvSpPr>
          <p:nvPr/>
        </p:nvSpPr>
        <p:spPr bwMode="auto">
          <a:xfrm>
            <a:off x="1521585" y="1583206"/>
            <a:ext cx="5744454" cy="369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Sitka Subheading Semibold" pitchFamily="2" charset="0"/>
              </a:rPr>
              <a:t>Data Collection.</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Sitka Subheading Semibold" pitchFamily="2" charset="0"/>
              </a:rPr>
              <a:t>Data Cleaning.</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Sitka Subheading Semibold" pitchFamily="2" charset="0"/>
              </a:rPr>
              <a:t>Feature Engineering </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Sitka Subheading Semibold" pitchFamily="2" charset="0"/>
              </a:rPr>
              <a:t>Exploratory Data Analysis (EDA)</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Sitka Subheading Semibold" pitchFamily="2" charset="0"/>
              </a:rPr>
              <a:t>Visualization </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Sitka Subheading Semibold" pitchFamily="2" charset="0"/>
              </a:rPr>
              <a:t>Insights &amp; Recommendations </a:t>
            </a:r>
          </a:p>
        </p:txBody>
      </p:sp>
      <p:pic>
        <p:nvPicPr>
          <p:cNvPr id="10" name="Picture 9">
            <a:extLst>
              <a:ext uri="{FF2B5EF4-FFF2-40B4-BE49-F238E27FC236}">
                <a16:creationId xmlns:a16="http://schemas.microsoft.com/office/drawing/2014/main" id="{969B6F5C-220D-96D8-0FB3-DB4A91866297}"/>
              </a:ext>
            </a:extLst>
          </p:cNvPr>
          <p:cNvPicPr>
            <a:picLocks noChangeAspect="1"/>
          </p:cNvPicPr>
          <p:nvPr/>
        </p:nvPicPr>
        <p:blipFill>
          <a:blip r:embed="rId2"/>
          <a:stretch>
            <a:fillRect/>
          </a:stretch>
        </p:blipFill>
        <p:spPr>
          <a:xfrm>
            <a:off x="6096000" y="1281404"/>
            <a:ext cx="5020376" cy="4925112"/>
          </a:xfrm>
          <a:prstGeom prst="rect">
            <a:avLst/>
          </a:prstGeom>
          <a:ln>
            <a:noFill/>
          </a:ln>
          <a:effectLst>
            <a:softEdge rad="112500"/>
          </a:effectLst>
        </p:spPr>
      </p:pic>
    </p:spTree>
    <p:extLst>
      <p:ext uri="{BB962C8B-B14F-4D97-AF65-F5344CB8AC3E}">
        <p14:creationId xmlns:p14="http://schemas.microsoft.com/office/powerpoint/2010/main" val="67183484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2D5B55-6306-301A-B302-99ABDFA117D9}"/>
              </a:ext>
            </a:extLst>
          </p:cNvPr>
          <p:cNvSpPr txBox="1"/>
          <p:nvPr/>
        </p:nvSpPr>
        <p:spPr>
          <a:xfrm>
            <a:off x="1846007" y="373625"/>
            <a:ext cx="8499986" cy="769441"/>
          </a:xfrm>
          <a:prstGeom prst="rect">
            <a:avLst/>
          </a:prstGeom>
          <a:noFill/>
        </p:spPr>
        <p:txBody>
          <a:bodyPr wrap="square" rtlCol="0">
            <a:spAutoFit/>
          </a:bodyPr>
          <a:lstStyle/>
          <a:p>
            <a:r>
              <a:rPr lang="en-US" sz="4400" dirty="0">
                <a:solidFill>
                  <a:schemeClr val="accent1">
                    <a:lumMod val="75000"/>
                  </a:schemeClr>
                </a:solidFill>
                <a:latin typeface="Arial Black" panose="020B0A04020102020204" pitchFamily="34" charset="0"/>
              </a:rPr>
              <a:t>Tools &amp; Technologies Used</a:t>
            </a:r>
          </a:p>
        </p:txBody>
      </p:sp>
      <p:sp>
        <p:nvSpPr>
          <p:cNvPr id="5" name="Rectangle 1">
            <a:extLst>
              <a:ext uri="{FF2B5EF4-FFF2-40B4-BE49-F238E27FC236}">
                <a16:creationId xmlns:a16="http://schemas.microsoft.com/office/drawing/2014/main" id="{DE4FF5E9-A143-8B5B-98F0-9FC1E843BAC6}"/>
              </a:ext>
            </a:extLst>
          </p:cNvPr>
          <p:cNvSpPr>
            <a:spLocks noChangeArrowheads="1"/>
          </p:cNvSpPr>
          <p:nvPr/>
        </p:nvSpPr>
        <p:spPr bwMode="auto">
          <a:xfrm>
            <a:off x="1954161" y="1577983"/>
            <a:ext cx="6420466"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dirty="0">
                <a:ln>
                  <a:noFill/>
                </a:ln>
                <a:solidFill>
                  <a:schemeClr val="tx1"/>
                </a:solidFill>
                <a:effectLst/>
                <a:latin typeface="Sitka Subheading Semibold" pitchFamily="2" charset="0"/>
              </a:rPr>
              <a:t>Web Scraping:</a:t>
            </a: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err="1">
                <a:ln>
                  <a:noFill/>
                </a:ln>
                <a:solidFill>
                  <a:schemeClr val="tx1"/>
                </a:solidFill>
                <a:effectLst/>
                <a:latin typeface="Sitka Subheading Semibold" pitchFamily="2" charset="0"/>
              </a:rPr>
              <a:t>BeautifulSoup</a:t>
            </a:r>
            <a:endParaRPr kumimoji="0" lang="en-US" altLang="en-US" i="0" u="none" strike="noStrike" cap="none" normalizeH="0" dirty="0">
              <a:ln>
                <a:noFill/>
              </a:ln>
              <a:solidFill>
                <a:schemeClr val="tx1"/>
              </a:solidFill>
              <a:effectLst/>
              <a:latin typeface="Sitka Subheading Semibold" pitchFamily="2" charset="0"/>
            </a:endParaRP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a:ln>
                  <a:noFill/>
                </a:ln>
                <a:solidFill>
                  <a:schemeClr val="tx1"/>
                </a:solidFill>
                <a:effectLst/>
                <a:latin typeface="Sitka Subheading Semibold" pitchFamily="2" charset="0"/>
              </a:rPr>
              <a:t>Requests </a:t>
            </a: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a:ln>
                  <a:noFill/>
                </a:ln>
                <a:solidFill>
                  <a:schemeClr val="tx1"/>
                </a:solidFill>
                <a:effectLst/>
                <a:latin typeface="Sitka Subheading Semibold" pitchFamily="2" charset="0"/>
              </a:rPr>
              <a:t>Regular Expressions (Regex)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dirty="0">
                <a:ln>
                  <a:noFill/>
                </a:ln>
                <a:solidFill>
                  <a:schemeClr val="tx1"/>
                </a:solidFill>
                <a:effectLst/>
                <a:latin typeface="Sitka Subheading Semibold" pitchFamily="2" charset="0"/>
              </a:rPr>
              <a:t>Data Analysis:</a:t>
            </a: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a:ln>
                  <a:noFill/>
                </a:ln>
                <a:solidFill>
                  <a:schemeClr val="tx1"/>
                </a:solidFill>
                <a:effectLst/>
                <a:latin typeface="Sitka Subheading Semibold" pitchFamily="2" charset="0"/>
              </a:rPr>
              <a:t>Python </a:t>
            </a: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a:ln>
                  <a:noFill/>
                </a:ln>
                <a:solidFill>
                  <a:schemeClr val="tx1"/>
                </a:solidFill>
                <a:effectLst/>
                <a:latin typeface="Sitka Subheading Semibold" pitchFamily="2" charset="0"/>
              </a:rPr>
              <a:t>Pandas, NumPy</a:t>
            </a: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a:ln>
                  <a:noFill/>
                </a:ln>
                <a:solidFill>
                  <a:schemeClr val="tx1"/>
                </a:solidFill>
                <a:effectLst/>
                <a:latin typeface="Sitka Subheading Semibold" pitchFamily="2" charset="0"/>
              </a:rPr>
              <a:t>Matplotlib &amp; Seaborn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dirty="0">
                <a:ln>
                  <a:noFill/>
                </a:ln>
                <a:solidFill>
                  <a:schemeClr val="tx1"/>
                </a:solidFill>
                <a:effectLst/>
                <a:latin typeface="Sitka Subheading Semibold" pitchFamily="2" charset="0"/>
              </a:rPr>
              <a:t>Visualization &amp; Reporting:</a:t>
            </a:r>
          </a:p>
          <a:p>
            <a:pPr marL="800100" lvl="1" indent="-342900" eaLnBrk="0" fontAlgn="base" hangingPunct="0">
              <a:lnSpc>
                <a:spcPct val="150000"/>
              </a:lnSpc>
              <a:spcBef>
                <a:spcPct val="0"/>
              </a:spcBef>
              <a:spcAft>
                <a:spcPct val="0"/>
              </a:spcAft>
              <a:buFont typeface="+mj-lt"/>
              <a:buAutoNum type="arabicPeriod"/>
            </a:pPr>
            <a:r>
              <a:rPr kumimoji="0" lang="en-US" altLang="en-US" i="0" u="none" strike="noStrike" cap="none" normalizeH="0" dirty="0">
                <a:ln>
                  <a:noFill/>
                </a:ln>
                <a:solidFill>
                  <a:schemeClr val="tx1"/>
                </a:solidFill>
                <a:effectLst/>
                <a:latin typeface="Sitka Subheading Semibold" pitchFamily="2" charset="0"/>
              </a:rPr>
              <a:t>Power BI / Tableau</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i="0" u="none" strike="noStrike" cap="none" normalizeH="0" dirty="0">
              <a:ln>
                <a:noFill/>
              </a:ln>
              <a:solidFill>
                <a:schemeClr val="tx1"/>
              </a:solidFill>
              <a:effectLst/>
              <a:latin typeface="Sitka Subheading Semibold" pitchFamily="2" charset="0"/>
            </a:endParaRPr>
          </a:p>
        </p:txBody>
      </p:sp>
    </p:spTree>
    <p:extLst>
      <p:ext uri="{BB962C8B-B14F-4D97-AF65-F5344CB8AC3E}">
        <p14:creationId xmlns:p14="http://schemas.microsoft.com/office/powerpoint/2010/main" val="2031297046"/>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EA70EE-FD53-9FB3-CB56-A4F20F2C7A40}"/>
              </a:ext>
            </a:extLst>
          </p:cNvPr>
          <p:cNvSpPr txBox="1"/>
          <p:nvPr/>
        </p:nvSpPr>
        <p:spPr>
          <a:xfrm>
            <a:off x="2979174" y="167148"/>
            <a:ext cx="6233652" cy="830997"/>
          </a:xfrm>
          <a:prstGeom prst="rect">
            <a:avLst/>
          </a:prstGeom>
          <a:noFill/>
        </p:spPr>
        <p:txBody>
          <a:bodyPr wrap="square" rtlCol="0">
            <a:spAutoFit/>
          </a:bodyPr>
          <a:lstStyle/>
          <a:p>
            <a:r>
              <a:rPr lang="en-US" altLang="en-US" sz="4800" dirty="0">
                <a:solidFill>
                  <a:schemeClr val="accent1">
                    <a:lumMod val="75000"/>
                  </a:schemeClr>
                </a:solidFill>
                <a:latin typeface="Sitka Subheading Semibold" pitchFamily="2" charset="0"/>
              </a:rPr>
              <a:t>DATA COLLECTION</a:t>
            </a:r>
            <a:endParaRPr lang="en-US" sz="4800" dirty="0">
              <a:solidFill>
                <a:schemeClr val="accent1">
                  <a:lumMod val="75000"/>
                </a:schemeClr>
              </a:solidFill>
            </a:endParaRPr>
          </a:p>
        </p:txBody>
      </p:sp>
      <p:sp>
        <p:nvSpPr>
          <p:cNvPr id="6" name="Rectangle 1">
            <a:extLst>
              <a:ext uri="{FF2B5EF4-FFF2-40B4-BE49-F238E27FC236}">
                <a16:creationId xmlns:a16="http://schemas.microsoft.com/office/drawing/2014/main" id="{0E3B3BB5-3A30-1B37-022D-0B9CB432CC76}"/>
              </a:ext>
            </a:extLst>
          </p:cNvPr>
          <p:cNvSpPr>
            <a:spLocks noChangeArrowheads="1"/>
          </p:cNvSpPr>
          <p:nvPr/>
        </p:nvSpPr>
        <p:spPr bwMode="auto">
          <a:xfrm>
            <a:off x="871653" y="1329259"/>
            <a:ext cx="10448694" cy="1703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Sitka Subheading Semibold" pitchFamily="2" charset="0"/>
              </a:rPr>
              <a:t> Web Scraping : Used Python libraries (</a:t>
            </a:r>
            <a:r>
              <a:rPr kumimoji="0" lang="en-US" altLang="en-US" sz="1800" i="0" u="none" strike="noStrike" cap="none" normalizeH="0" baseline="0" dirty="0" err="1">
                <a:ln>
                  <a:noFill/>
                </a:ln>
                <a:solidFill>
                  <a:schemeClr val="tx1"/>
                </a:solidFill>
                <a:effectLst/>
                <a:latin typeface="Sitka Subheading Semibold" pitchFamily="2" charset="0"/>
              </a:rPr>
              <a:t>BeautifulSoup</a:t>
            </a:r>
            <a:r>
              <a:rPr kumimoji="0" lang="en-US" altLang="en-US" sz="1800" i="0" u="none" strike="noStrike" cap="none" normalizeH="0" baseline="0" dirty="0">
                <a:ln>
                  <a:noFill/>
                </a:ln>
                <a:solidFill>
                  <a:schemeClr val="tx1"/>
                </a:solidFill>
                <a:effectLst/>
                <a:latin typeface="Sitka Subheading Semibold" pitchFamily="2" charset="0"/>
              </a:rPr>
              <a:t>, Requests, Regex) to extract data.</a:t>
            </a:r>
          </a:p>
          <a:p>
            <a:pPr marL="285750" lvl="0" indent="-285750" eaLnBrk="0" fontAlgn="base" hangingPunct="0">
              <a:lnSpc>
                <a:spcPct val="150000"/>
              </a:lnSpc>
              <a:spcBef>
                <a:spcPct val="0"/>
              </a:spcBef>
              <a:spcAft>
                <a:spcPct val="0"/>
              </a:spcAft>
              <a:buFont typeface="Wingdings" panose="05000000000000000000" pitchFamily="2" charset="2"/>
              <a:buChar char="Ø"/>
            </a:pPr>
            <a:r>
              <a:rPr kumimoji="0" lang="en-US" altLang="en-US" sz="1800" i="0" u="none" strike="noStrike" cap="none" normalizeH="0" baseline="0" dirty="0">
                <a:ln>
                  <a:noFill/>
                </a:ln>
                <a:solidFill>
                  <a:schemeClr val="tx1"/>
                </a:solidFill>
                <a:effectLst/>
                <a:latin typeface="Sitka Subheading Semibold" pitchFamily="2" charset="0"/>
              </a:rPr>
              <a:t> Website Source: </a:t>
            </a:r>
            <a:r>
              <a:rPr lang="en-US" altLang="en-US" dirty="0" err="1">
                <a:latin typeface="Sitka Subheading Semibold" pitchFamily="2" charset="0"/>
              </a:rPr>
              <a:t>url</a:t>
            </a:r>
            <a:r>
              <a:rPr lang="en-US" altLang="en-US" dirty="0">
                <a:latin typeface="Sitka Subheading Semibold" pitchFamily="2" charset="0"/>
              </a:rPr>
              <a:t> ="https://www.shiksha.com/engineering/colleges/b-tech-colleges-india"</a:t>
            </a:r>
            <a:endParaRPr kumimoji="0" lang="en-US" altLang="en-US" sz="1800" i="0" u="none" strike="noStrike" cap="none" normalizeH="0" baseline="0" dirty="0">
              <a:ln>
                <a:noFill/>
              </a:ln>
              <a:solidFill>
                <a:schemeClr val="tx1"/>
              </a:solidFill>
              <a:effectLst/>
              <a:latin typeface="Sitka Subheading Semibold" pitchFamily="2"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Sitka Subheading Semibold" pitchFamily="2" charset="0"/>
              </a:rPr>
              <a:t> Scraped Information: College Name, Location, Fees, Placements, Ratings, Exams, Courses.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Sitka Subheading Semibold" pitchFamily="2" charset="0"/>
              </a:rPr>
              <a:t> Total Pages Scraped: ~200 pages covering 1500+ engineering colleges.</a:t>
            </a:r>
          </a:p>
        </p:txBody>
      </p:sp>
      <p:pic>
        <p:nvPicPr>
          <p:cNvPr id="19" name="Picture 18">
            <a:extLst>
              <a:ext uri="{FF2B5EF4-FFF2-40B4-BE49-F238E27FC236}">
                <a16:creationId xmlns:a16="http://schemas.microsoft.com/office/drawing/2014/main" id="{17CC558B-201C-AFE5-6B94-C9A569B8190B}"/>
              </a:ext>
            </a:extLst>
          </p:cNvPr>
          <p:cNvPicPr>
            <a:picLocks noChangeAspect="1"/>
          </p:cNvPicPr>
          <p:nvPr/>
        </p:nvPicPr>
        <p:blipFill>
          <a:blip r:embed="rId2"/>
          <a:stretch>
            <a:fillRect/>
          </a:stretch>
        </p:blipFill>
        <p:spPr>
          <a:xfrm>
            <a:off x="1209405" y="3244645"/>
            <a:ext cx="9773189" cy="3158784"/>
          </a:xfrm>
          <a:prstGeom prst="rect">
            <a:avLst/>
          </a:prstGeom>
        </p:spPr>
      </p:pic>
    </p:spTree>
    <p:extLst>
      <p:ext uri="{BB962C8B-B14F-4D97-AF65-F5344CB8AC3E}">
        <p14:creationId xmlns:p14="http://schemas.microsoft.com/office/powerpoint/2010/main" val="1328561670"/>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F5BA1B-4F4D-FE60-1004-52F211F4DF09}"/>
              </a:ext>
            </a:extLst>
          </p:cNvPr>
          <p:cNvPicPr>
            <a:picLocks noChangeAspect="1"/>
          </p:cNvPicPr>
          <p:nvPr/>
        </p:nvPicPr>
        <p:blipFill>
          <a:blip r:embed="rId2"/>
          <a:stretch>
            <a:fillRect/>
          </a:stretch>
        </p:blipFill>
        <p:spPr>
          <a:xfrm>
            <a:off x="899212" y="1018839"/>
            <a:ext cx="10688542" cy="2410161"/>
          </a:xfrm>
          <a:prstGeom prst="rect">
            <a:avLst/>
          </a:prstGeom>
        </p:spPr>
      </p:pic>
      <p:sp>
        <p:nvSpPr>
          <p:cNvPr id="4" name="TextBox 3">
            <a:extLst>
              <a:ext uri="{FF2B5EF4-FFF2-40B4-BE49-F238E27FC236}">
                <a16:creationId xmlns:a16="http://schemas.microsoft.com/office/drawing/2014/main" id="{82446E47-FBC4-A5D1-74B5-5A442FBAE6E4}"/>
              </a:ext>
            </a:extLst>
          </p:cNvPr>
          <p:cNvSpPr txBox="1"/>
          <p:nvPr/>
        </p:nvSpPr>
        <p:spPr>
          <a:xfrm>
            <a:off x="1118746" y="144325"/>
            <a:ext cx="10249473" cy="523220"/>
          </a:xfrm>
          <a:prstGeom prst="rect">
            <a:avLst/>
          </a:prstGeom>
          <a:noFill/>
        </p:spPr>
        <p:txBody>
          <a:bodyPr wrap="square" rtlCol="0">
            <a:spAutoFit/>
          </a:bodyPr>
          <a:lstStyle/>
          <a:p>
            <a:r>
              <a:rPr lang="en-US" sz="2800" dirty="0">
                <a:solidFill>
                  <a:schemeClr val="accent1">
                    <a:lumMod val="75000"/>
                  </a:schemeClr>
                </a:solidFill>
                <a:latin typeface="Arial Black" panose="020B0A04020102020204" pitchFamily="34" charset="0"/>
              </a:rPr>
              <a:t>DATAFRAME AFTER SCAPING DATA FROM WEBISTE </a:t>
            </a:r>
          </a:p>
        </p:txBody>
      </p:sp>
      <p:sp>
        <p:nvSpPr>
          <p:cNvPr id="5" name="TextBox 4">
            <a:extLst>
              <a:ext uri="{FF2B5EF4-FFF2-40B4-BE49-F238E27FC236}">
                <a16:creationId xmlns:a16="http://schemas.microsoft.com/office/drawing/2014/main" id="{EA790362-1FFB-CDEB-C05F-CD1075DBC538}"/>
              </a:ext>
            </a:extLst>
          </p:cNvPr>
          <p:cNvSpPr txBox="1"/>
          <p:nvPr/>
        </p:nvSpPr>
        <p:spPr>
          <a:xfrm>
            <a:off x="668593" y="3608368"/>
            <a:ext cx="4739149" cy="3193182"/>
          </a:xfrm>
          <a:prstGeom prst="rect">
            <a:avLst/>
          </a:prstGeom>
          <a:noFill/>
        </p:spPr>
        <p:txBody>
          <a:bodyPr wrap="square" rtlCol="0">
            <a:spAutoFit/>
          </a:bodyPr>
          <a:lstStyle/>
          <a:p>
            <a:pPr>
              <a:lnSpc>
                <a:spcPct val="200000"/>
              </a:lnSpc>
            </a:pPr>
            <a:r>
              <a:rPr lang="en-US" dirty="0">
                <a:latin typeface="Sitka Subheading Semibold" pitchFamily="2" charset="0"/>
              </a:rPr>
              <a:t>OPERATION PERFORM ON DATAFRAME</a:t>
            </a:r>
          </a:p>
          <a:p>
            <a:pPr marL="800100" lvl="1" indent="-342900">
              <a:lnSpc>
                <a:spcPct val="150000"/>
              </a:lnSpc>
              <a:buFont typeface="+mj-lt"/>
              <a:buAutoNum type="arabicPeriod"/>
            </a:pPr>
            <a:r>
              <a:rPr lang="en-US" dirty="0">
                <a:latin typeface="Sitka Subheading Semibold" pitchFamily="2" charset="0"/>
              </a:rPr>
              <a:t>Check duplicates data in </a:t>
            </a:r>
            <a:r>
              <a:rPr lang="en-US" dirty="0" err="1">
                <a:latin typeface="Sitka Subheading Semibold" pitchFamily="2" charset="0"/>
              </a:rPr>
              <a:t>dataframe</a:t>
            </a:r>
            <a:r>
              <a:rPr lang="en-US" dirty="0">
                <a:latin typeface="Sitka Subheading Semibold" pitchFamily="2" charset="0"/>
              </a:rPr>
              <a:t> </a:t>
            </a:r>
          </a:p>
          <a:p>
            <a:pPr marL="800100" lvl="1" indent="-342900">
              <a:lnSpc>
                <a:spcPct val="150000"/>
              </a:lnSpc>
              <a:buFont typeface="+mj-lt"/>
              <a:buAutoNum type="arabicPeriod"/>
            </a:pPr>
            <a:r>
              <a:rPr lang="en-US" dirty="0">
                <a:latin typeface="Sitka Subheading Semibold" pitchFamily="2" charset="0"/>
              </a:rPr>
              <a:t>Remove duplicates data </a:t>
            </a:r>
          </a:p>
          <a:p>
            <a:pPr marL="800100" lvl="1" indent="-342900">
              <a:lnSpc>
                <a:spcPct val="150000"/>
              </a:lnSpc>
              <a:buFont typeface="+mj-lt"/>
              <a:buAutoNum type="arabicPeriod"/>
            </a:pPr>
            <a:r>
              <a:rPr lang="en-US" dirty="0">
                <a:latin typeface="Sitka Subheading Semibold" pitchFamily="2" charset="0"/>
              </a:rPr>
              <a:t>Check the null values </a:t>
            </a:r>
          </a:p>
          <a:p>
            <a:pPr marL="800100" lvl="1" indent="-342900">
              <a:lnSpc>
                <a:spcPct val="150000"/>
              </a:lnSpc>
              <a:buFont typeface="+mj-lt"/>
              <a:buAutoNum type="arabicPeriod"/>
            </a:pPr>
            <a:r>
              <a:rPr lang="en-US" dirty="0">
                <a:latin typeface="Sitka Subheading Semibold" pitchFamily="2" charset="0"/>
              </a:rPr>
              <a:t>Extract data from column slot column using </a:t>
            </a:r>
            <a:r>
              <a:rPr lang="en-US" dirty="0" err="1">
                <a:latin typeface="Sitka Subheading Semibold" pitchFamily="2" charset="0"/>
              </a:rPr>
              <a:t>regural</a:t>
            </a:r>
            <a:r>
              <a:rPr lang="en-US" dirty="0">
                <a:latin typeface="Sitka Subheading Semibold" pitchFamily="2" charset="0"/>
              </a:rPr>
              <a:t> expression </a:t>
            </a:r>
          </a:p>
          <a:p>
            <a:pPr>
              <a:lnSpc>
                <a:spcPct val="200000"/>
              </a:lnSpc>
            </a:pPr>
            <a:endParaRPr lang="en-US" dirty="0">
              <a:latin typeface="Sitka Subheading Semibold" pitchFamily="2" charset="0"/>
            </a:endParaRPr>
          </a:p>
        </p:txBody>
      </p:sp>
      <p:pic>
        <p:nvPicPr>
          <p:cNvPr id="7" name="Picture 6">
            <a:extLst>
              <a:ext uri="{FF2B5EF4-FFF2-40B4-BE49-F238E27FC236}">
                <a16:creationId xmlns:a16="http://schemas.microsoft.com/office/drawing/2014/main" id="{1A5AB712-F9BE-CF62-3A4B-9C12D5EAFC2F}"/>
              </a:ext>
            </a:extLst>
          </p:cNvPr>
          <p:cNvPicPr>
            <a:picLocks noChangeAspect="1"/>
          </p:cNvPicPr>
          <p:nvPr/>
        </p:nvPicPr>
        <p:blipFill>
          <a:blip r:embed="rId3"/>
          <a:stretch>
            <a:fillRect/>
          </a:stretch>
        </p:blipFill>
        <p:spPr>
          <a:xfrm>
            <a:off x="5614220" y="4366642"/>
            <a:ext cx="6178797" cy="838317"/>
          </a:xfrm>
          <a:prstGeom prst="rect">
            <a:avLst/>
          </a:prstGeom>
        </p:spPr>
      </p:pic>
    </p:spTree>
    <p:extLst>
      <p:ext uri="{BB962C8B-B14F-4D97-AF65-F5344CB8AC3E}">
        <p14:creationId xmlns:p14="http://schemas.microsoft.com/office/powerpoint/2010/main" val="3246205325"/>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AAD0C9-ACB7-AD83-DC01-63335B743C42}"/>
              </a:ext>
            </a:extLst>
          </p:cNvPr>
          <p:cNvPicPr>
            <a:picLocks noChangeAspect="1"/>
          </p:cNvPicPr>
          <p:nvPr/>
        </p:nvPicPr>
        <p:blipFill>
          <a:blip r:embed="rId2"/>
          <a:stretch>
            <a:fillRect/>
          </a:stretch>
        </p:blipFill>
        <p:spPr>
          <a:xfrm>
            <a:off x="658758" y="584775"/>
            <a:ext cx="11151706" cy="2514600"/>
          </a:xfrm>
          <a:prstGeom prst="rect">
            <a:avLst/>
          </a:prstGeom>
        </p:spPr>
      </p:pic>
      <p:sp>
        <p:nvSpPr>
          <p:cNvPr id="3" name="TextBox 2">
            <a:extLst>
              <a:ext uri="{FF2B5EF4-FFF2-40B4-BE49-F238E27FC236}">
                <a16:creationId xmlns:a16="http://schemas.microsoft.com/office/drawing/2014/main" id="{4DD3D93C-E8BC-51DB-A694-318860553CAB}"/>
              </a:ext>
            </a:extLst>
          </p:cNvPr>
          <p:cNvSpPr txBox="1"/>
          <p:nvPr/>
        </p:nvSpPr>
        <p:spPr>
          <a:xfrm>
            <a:off x="751357" y="151128"/>
            <a:ext cx="3890091" cy="338554"/>
          </a:xfrm>
          <a:prstGeom prst="rect">
            <a:avLst/>
          </a:prstGeom>
          <a:noFill/>
        </p:spPr>
        <p:txBody>
          <a:bodyPr wrap="square" rtlCol="0">
            <a:spAutoFit/>
          </a:bodyPr>
          <a:lstStyle/>
          <a:p>
            <a:r>
              <a:rPr lang="en-US" sz="1600" dirty="0">
                <a:solidFill>
                  <a:schemeClr val="accent1">
                    <a:lumMod val="75000"/>
                  </a:schemeClr>
                </a:solidFill>
                <a:latin typeface="Arial Black" panose="020B0A04020102020204" pitchFamily="34" charset="0"/>
              </a:rPr>
              <a:t>DATA AFTER WEB SCAPING </a:t>
            </a:r>
          </a:p>
        </p:txBody>
      </p:sp>
      <p:sp>
        <p:nvSpPr>
          <p:cNvPr id="4" name="TextBox 3">
            <a:extLst>
              <a:ext uri="{FF2B5EF4-FFF2-40B4-BE49-F238E27FC236}">
                <a16:creationId xmlns:a16="http://schemas.microsoft.com/office/drawing/2014/main" id="{9CE0CE21-A88C-730B-E18A-2B1999511D62}"/>
              </a:ext>
            </a:extLst>
          </p:cNvPr>
          <p:cNvSpPr txBox="1"/>
          <p:nvPr/>
        </p:nvSpPr>
        <p:spPr>
          <a:xfrm>
            <a:off x="751357" y="3292161"/>
            <a:ext cx="6563844" cy="369332"/>
          </a:xfrm>
          <a:prstGeom prst="rect">
            <a:avLst/>
          </a:prstGeom>
          <a:noFill/>
        </p:spPr>
        <p:txBody>
          <a:bodyPr wrap="square" rtlCol="0">
            <a:spAutoFit/>
          </a:bodyPr>
          <a:lstStyle/>
          <a:p>
            <a:r>
              <a:rPr lang="en-US" dirty="0">
                <a:solidFill>
                  <a:schemeClr val="accent1">
                    <a:lumMod val="75000"/>
                  </a:schemeClr>
                </a:solidFill>
                <a:latin typeface="Arial Black" panose="020B0A04020102020204" pitchFamily="34" charset="0"/>
              </a:rPr>
              <a:t>DATA AFTER SCAPING</a:t>
            </a:r>
          </a:p>
        </p:txBody>
      </p:sp>
      <p:pic>
        <p:nvPicPr>
          <p:cNvPr id="10" name="Picture 9">
            <a:extLst>
              <a:ext uri="{FF2B5EF4-FFF2-40B4-BE49-F238E27FC236}">
                <a16:creationId xmlns:a16="http://schemas.microsoft.com/office/drawing/2014/main" id="{CB0D8871-E518-F6FA-D6E6-B782813010B1}"/>
              </a:ext>
            </a:extLst>
          </p:cNvPr>
          <p:cNvPicPr>
            <a:picLocks noChangeAspect="1"/>
          </p:cNvPicPr>
          <p:nvPr/>
        </p:nvPicPr>
        <p:blipFill>
          <a:blip r:embed="rId3"/>
          <a:stretch>
            <a:fillRect/>
          </a:stretch>
        </p:blipFill>
        <p:spPr>
          <a:xfrm>
            <a:off x="658759" y="3684150"/>
            <a:ext cx="10874482" cy="1219370"/>
          </a:xfrm>
          <a:prstGeom prst="rect">
            <a:avLst/>
          </a:prstGeom>
        </p:spPr>
      </p:pic>
      <p:pic>
        <p:nvPicPr>
          <p:cNvPr id="12" name="Picture 11">
            <a:extLst>
              <a:ext uri="{FF2B5EF4-FFF2-40B4-BE49-F238E27FC236}">
                <a16:creationId xmlns:a16="http://schemas.microsoft.com/office/drawing/2014/main" id="{DF6B737F-F438-FE98-02C0-DA3DEC72AF9D}"/>
              </a:ext>
            </a:extLst>
          </p:cNvPr>
          <p:cNvPicPr>
            <a:picLocks noChangeAspect="1"/>
          </p:cNvPicPr>
          <p:nvPr/>
        </p:nvPicPr>
        <p:blipFill>
          <a:blip r:embed="rId4"/>
          <a:stretch>
            <a:fillRect/>
          </a:stretch>
        </p:blipFill>
        <p:spPr>
          <a:xfrm>
            <a:off x="658758" y="5110843"/>
            <a:ext cx="9340647" cy="1257475"/>
          </a:xfrm>
          <a:prstGeom prst="rect">
            <a:avLst/>
          </a:prstGeom>
        </p:spPr>
      </p:pic>
    </p:spTree>
    <p:extLst>
      <p:ext uri="{BB962C8B-B14F-4D97-AF65-F5344CB8AC3E}">
        <p14:creationId xmlns:p14="http://schemas.microsoft.com/office/powerpoint/2010/main" val="140091193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FED61D-9FEC-8A0B-D173-2E466AF19E5E}"/>
              </a:ext>
            </a:extLst>
          </p:cNvPr>
          <p:cNvSpPr>
            <a:spLocks noChangeArrowheads="1"/>
          </p:cNvSpPr>
          <p:nvPr/>
        </p:nvSpPr>
        <p:spPr bwMode="auto">
          <a:xfrm>
            <a:off x="863600" y="2857248"/>
            <a:ext cx="7264400"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18" name="TextBox 17">
            <a:extLst>
              <a:ext uri="{FF2B5EF4-FFF2-40B4-BE49-F238E27FC236}">
                <a16:creationId xmlns:a16="http://schemas.microsoft.com/office/drawing/2014/main" id="{9D277855-79C2-6722-E5CE-3DC02A93BF61}"/>
              </a:ext>
            </a:extLst>
          </p:cNvPr>
          <p:cNvSpPr txBox="1"/>
          <p:nvPr/>
        </p:nvSpPr>
        <p:spPr>
          <a:xfrm>
            <a:off x="863600" y="182232"/>
            <a:ext cx="11780959" cy="461665"/>
          </a:xfrm>
          <a:prstGeom prst="rect">
            <a:avLst/>
          </a:prstGeom>
          <a:noFill/>
        </p:spPr>
        <p:txBody>
          <a:bodyPr wrap="square" rtlCol="0">
            <a:spAutoFit/>
          </a:bodyPr>
          <a:lstStyle/>
          <a:p>
            <a:r>
              <a:rPr lang="en-US" sz="2400" b="1" dirty="0">
                <a:solidFill>
                  <a:schemeClr val="accent1">
                    <a:lumMod val="75000"/>
                  </a:schemeClr>
                </a:solidFill>
                <a:latin typeface="Arial Black" panose="020B0A04020102020204" pitchFamily="34" charset="0"/>
              </a:rPr>
              <a:t>Univariate Analysis on numerical columns</a:t>
            </a:r>
          </a:p>
        </p:txBody>
      </p:sp>
      <p:pic>
        <p:nvPicPr>
          <p:cNvPr id="8" name="Picture 7">
            <a:extLst>
              <a:ext uri="{FF2B5EF4-FFF2-40B4-BE49-F238E27FC236}">
                <a16:creationId xmlns:a16="http://schemas.microsoft.com/office/drawing/2014/main" id="{BF00EC4A-EBAB-C210-1A33-B9B200C40F1F}"/>
              </a:ext>
            </a:extLst>
          </p:cNvPr>
          <p:cNvPicPr>
            <a:picLocks noChangeAspect="1"/>
          </p:cNvPicPr>
          <p:nvPr/>
        </p:nvPicPr>
        <p:blipFill>
          <a:blip r:embed="rId2"/>
          <a:stretch>
            <a:fillRect/>
          </a:stretch>
        </p:blipFill>
        <p:spPr>
          <a:xfrm>
            <a:off x="300724" y="643897"/>
            <a:ext cx="6311952" cy="3096773"/>
          </a:xfrm>
          <a:prstGeom prst="rect">
            <a:avLst/>
          </a:prstGeom>
        </p:spPr>
      </p:pic>
      <p:pic>
        <p:nvPicPr>
          <p:cNvPr id="12" name="Picture 11">
            <a:extLst>
              <a:ext uri="{FF2B5EF4-FFF2-40B4-BE49-F238E27FC236}">
                <a16:creationId xmlns:a16="http://schemas.microsoft.com/office/drawing/2014/main" id="{F3E0E600-EC3F-1CCE-0F91-4B84BFC04376}"/>
              </a:ext>
            </a:extLst>
          </p:cNvPr>
          <p:cNvPicPr>
            <a:picLocks noChangeAspect="1"/>
          </p:cNvPicPr>
          <p:nvPr/>
        </p:nvPicPr>
        <p:blipFill>
          <a:blip r:embed="rId3"/>
          <a:stretch>
            <a:fillRect/>
          </a:stretch>
        </p:blipFill>
        <p:spPr>
          <a:xfrm>
            <a:off x="6754079" y="643897"/>
            <a:ext cx="4671300" cy="2905548"/>
          </a:xfrm>
          <a:prstGeom prst="rect">
            <a:avLst/>
          </a:prstGeom>
        </p:spPr>
      </p:pic>
      <p:pic>
        <p:nvPicPr>
          <p:cNvPr id="14" name="Picture 13">
            <a:extLst>
              <a:ext uri="{FF2B5EF4-FFF2-40B4-BE49-F238E27FC236}">
                <a16:creationId xmlns:a16="http://schemas.microsoft.com/office/drawing/2014/main" id="{ECD55951-CE4F-0EE0-07B3-2315D26343BE}"/>
              </a:ext>
            </a:extLst>
          </p:cNvPr>
          <p:cNvPicPr>
            <a:picLocks noChangeAspect="1"/>
          </p:cNvPicPr>
          <p:nvPr/>
        </p:nvPicPr>
        <p:blipFill>
          <a:blip r:embed="rId4"/>
          <a:stretch>
            <a:fillRect/>
          </a:stretch>
        </p:blipFill>
        <p:spPr>
          <a:xfrm>
            <a:off x="300725" y="3723754"/>
            <a:ext cx="6311952" cy="3096773"/>
          </a:xfrm>
          <a:prstGeom prst="rect">
            <a:avLst/>
          </a:prstGeom>
        </p:spPr>
      </p:pic>
      <p:pic>
        <p:nvPicPr>
          <p:cNvPr id="19" name="Picture 18">
            <a:extLst>
              <a:ext uri="{FF2B5EF4-FFF2-40B4-BE49-F238E27FC236}">
                <a16:creationId xmlns:a16="http://schemas.microsoft.com/office/drawing/2014/main" id="{2CE0040B-A47F-37E8-9BA1-E8CB332DF90D}"/>
              </a:ext>
            </a:extLst>
          </p:cNvPr>
          <p:cNvPicPr>
            <a:picLocks noChangeAspect="1"/>
          </p:cNvPicPr>
          <p:nvPr/>
        </p:nvPicPr>
        <p:blipFill>
          <a:blip r:embed="rId5"/>
          <a:stretch>
            <a:fillRect/>
          </a:stretch>
        </p:blipFill>
        <p:spPr>
          <a:xfrm>
            <a:off x="6754079" y="3797205"/>
            <a:ext cx="4372585" cy="2819794"/>
          </a:xfrm>
          <a:prstGeom prst="rect">
            <a:avLst/>
          </a:prstGeom>
        </p:spPr>
      </p:pic>
    </p:spTree>
    <p:extLst>
      <p:ext uri="{BB962C8B-B14F-4D97-AF65-F5344CB8AC3E}">
        <p14:creationId xmlns:p14="http://schemas.microsoft.com/office/powerpoint/2010/main" val="4073641541"/>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5D183A-B21A-EE3E-C7BC-FBF03A4BB554}"/>
              </a:ext>
            </a:extLst>
          </p:cNvPr>
          <p:cNvPicPr>
            <a:picLocks noChangeAspect="1"/>
          </p:cNvPicPr>
          <p:nvPr/>
        </p:nvPicPr>
        <p:blipFill>
          <a:blip r:embed="rId2"/>
          <a:stretch>
            <a:fillRect/>
          </a:stretch>
        </p:blipFill>
        <p:spPr>
          <a:xfrm>
            <a:off x="194036" y="195809"/>
            <a:ext cx="6573167" cy="3162741"/>
          </a:xfrm>
          <a:prstGeom prst="rect">
            <a:avLst/>
          </a:prstGeom>
        </p:spPr>
      </p:pic>
      <p:pic>
        <p:nvPicPr>
          <p:cNvPr id="5" name="Picture 4">
            <a:extLst>
              <a:ext uri="{FF2B5EF4-FFF2-40B4-BE49-F238E27FC236}">
                <a16:creationId xmlns:a16="http://schemas.microsoft.com/office/drawing/2014/main" id="{D5742139-0E84-3D00-65D9-256E86414046}"/>
              </a:ext>
            </a:extLst>
          </p:cNvPr>
          <p:cNvPicPr>
            <a:picLocks noChangeAspect="1"/>
          </p:cNvPicPr>
          <p:nvPr/>
        </p:nvPicPr>
        <p:blipFill>
          <a:blip r:embed="rId3"/>
          <a:stretch>
            <a:fillRect/>
          </a:stretch>
        </p:blipFill>
        <p:spPr>
          <a:xfrm>
            <a:off x="287595" y="3429000"/>
            <a:ext cx="6582694" cy="3070123"/>
          </a:xfrm>
          <a:prstGeom prst="rect">
            <a:avLst/>
          </a:prstGeom>
        </p:spPr>
      </p:pic>
      <p:pic>
        <p:nvPicPr>
          <p:cNvPr id="7" name="Picture 6">
            <a:extLst>
              <a:ext uri="{FF2B5EF4-FFF2-40B4-BE49-F238E27FC236}">
                <a16:creationId xmlns:a16="http://schemas.microsoft.com/office/drawing/2014/main" id="{9668D490-0898-E72B-8F4F-00E9427CFBE9}"/>
              </a:ext>
            </a:extLst>
          </p:cNvPr>
          <p:cNvPicPr>
            <a:picLocks noChangeAspect="1"/>
          </p:cNvPicPr>
          <p:nvPr/>
        </p:nvPicPr>
        <p:blipFill>
          <a:blip r:embed="rId4"/>
          <a:stretch>
            <a:fillRect/>
          </a:stretch>
        </p:blipFill>
        <p:spPr>
          <a:xfrm>
            <a:off x="7330109" y="3535111"/>
            <a:ext cx="4296375" cy="2857899"/>
          </a:xfrm>
          <a:prstGeom prst="rect">
            <a:avLst/>
          </a:prstGeom>
        </p:spPr>
      </p:pic>
      <p:pic>
        <p:nvPicPr>
          <p:cNvPr id="9" name="Picture 8">
            <a:extLst>
              <a:ext uri="{FF2B5EF4-FFF2-40B4-BE49-F238E27FC236}">
                <a16:creationId xmlns:a16="http://schemas.microsoft.com/office/drawing/2014/main" id="{90588847-31CB-127F-8B85-DC9C08B0047A}"/>
              </a:ext>
            </a:extLst>
          </p:cNvPr>
          <p:cNvPicPr>
            <a:picLocks noChangeAspect="1"/>
          </p:cNvPicPr>
          <p:nvPr/>
        </p:nvPicPr>
        <p:blipFill>
          <a:blip r:embed="rId5"/>
          <a:stretch>
            <a:fillRect/>
          </a:stretch>
        </p:blipFill>
        <p:spPr>
          <a:xfrm>
            <a:off x="7218458" y="195809"/>
            <a:ext cx="4408026" cy="3048836"/>
          </a:xfrm>
          <a:prstGeom prst="rect">
            <a:avLst/>
          </a:prstGeom>
        </p:spPr>
      </p:pic>
    </p:spTree>
    <p:extLst>
      <p:ext uri="{BB962C8B-B14F-4D97-AF65-F5344CB8AC3E}">
        <p14:creationId xmlns:p14="http://schemas.microsoft.com/office/powerpoint/2010/main" val="417252304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1ED8F8-1A52-72DE-AED6-BF24C406246E}"/>
              </a:ext>
            </a:extLst>
          </p:cNvPr>
          <p:cNvPicPr>
            <a:picLocks noChangeAspect="1"/>
          </p:cNvPicPr>
          <p:nvPr/>
        </p:nvPicPr>
        <p:blipFill>
          <a:blip r:embed="rId2"/>
          <a:stretch>
            <a:fillRect/>
          </a:stretch>
        </p:blipFill>
        <p:spPr>
          <a:xfrm>
            <a:off x="532261" y="1097280"/>
            <a:ext cx="11127478" cy="5638799"/>
          </a:xfrm>
          <a:prstGeom prst="rect">
            <a:avLst/>
          </a:prstGeom>
        </p:spPr>
      </p:pic>
      <p:sp>
        <p:nvSpPr>
          <p:cNvPr id="5" name="TextBox 4">
            <a:extLst>
              <a:ext uri="{FF2B5EF4-FFF2-40B4-BE49-F238E27FC236}">
                <a16:creationId xmlns:a16="http://schemas.microsoft.com/office/drawing/2014/main" id="{F652BA63-5DA5-03DF-F490-708788BAACFD}"/>
              </a:ext>
            </a:extLst>
          </p:cNvPr>
          <p:cNvSpPr txBox="1"/>
          <p:nvPr/>
        </p:nvSpPr>
        <p:spPr>
          <a:xfrm>
            <a:off x="1554480" y="269260"/>
            <a:ext cx="9509760" cy="523220"/>
          </a:xfrm>
          <a:prstGeom prst="rect">
            <a:avLst/>
          </a:prstGeom>
          <a:noFill/>
        </p:spPr>
        <p:txBody>
          <a:bodyPr wrap="square" rtlCol="0">
            <a:spAutoFit/>
          </a:bodyPr>
          <a:lstStyle/>
          <a:p>
            <a:r>
              <a:rPr lang="en-US" sz="2800" dirty="0">
                <a:solidFill>
                  <a:schemeClr val="accent1">
                    <a:lumMod val="75000"/>
                  </a:schemeClr>
                </a:solidFill>
                <a:latin typeface="Arial Black" panose="020B0A04020102020204" pitchFamily="34" charset="0"/>
              </a:rPr>
              <a:t>PLOT HISTOGRAMS FOR NUMERICAL COLUMN</a:t>
            </a:r>
          </a:p>
        </p:txBody>
      </p:sp>
    </p:spTree>
    <p:extLst>
      <p:ext uri="{BB962C8B-B14F-4D97-AF65-F5344CB8AC3E}">
        <p14:creationId xmlns:p14="http://schemas.microsoft.com/office/powerpoint/2010/main" val="2301447470"/>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82FCFE-86B6-7676-1960-B18ECBB76480}"/>
              </a:ext>
            </a:extLst>
          </p:cNvPr>
          <p:cNvPicPr>
            <a:picLocks noChangeAspect="1"/>
          </p:cNvPicPr>
          <p:nvPr/>
        </p:nvPicPr>
        <p:blipFill>
          <a:blip r:embed="rId2"/>
          <a:stretch>
            <a:fillRect/>
          </a:stretch>
        </p:blipFill>
        <p:spPr>
          <a:xfrm>
            <a:off x="411028" y="1100658"/>
            <a:ext cx="6060728" cy="4058216"/>
          </a:xfrm>
          <a:prstGeom prst="rect">
            <a:avLst/>
          </a:prstGeom>
        </p:spPr>
      </p:pic>
      <p:sp>
        <p:nvSpPr>
          <p:cNvPr id="4" name="TextBox 3">
            <a:extLst>
              <a:ext uri="{FF2B5EF4-FFF2-40B4-BE49-F238E27FC236}">
                <a16:creationId xmlns:a16="http://schemas.microsoft.com/office/drawing/2014/main" id="{CF3EAEB2-F063-2362-B0DA-8D35E1C59AD0}"/>
              </a:ext>
            </a:extLst>
          </p:cNvPr>
          <p:cNvSpPr txBox="1"/>
          <p:nvPr/>
        </p:nvSpPr>
        <p:spPr>
          <a:xfrm>
            <a:off x="762000" y="345440"/>
            <a:ext cx="11104880" cy="523220"/>
          </a:xfrm>
          <a:prstGeom prst="rect">
            <a:avLst/>
          </a:prstGeom>
          <a:noFill/>
        </p:spPr>
        <p:txBody>
          <a:bodyPr wrap="square" rtlCol="0">
            <a:spAutoFit/>
          </a:bodyPr>
          <a:lstStyle/>
          <a:p>
            <a:r>
              <a:rPr lang="en-US" sz="2800" dirty="0">
                <a:solidFill>
                  <a:schemeClr val="accent1">
                    <a:lumMod val="75000"/>
                  </a:schemeClr>
                </a:solidFill>
                <a:latin typeface="Arial Black" panose="020B0A04020102020204" pitchFamily="34" charset="0"/>
              </a:rPr>
              <a:t>UNIVARIATE ANALYSIS ON CATEGORICAL COLUMNS</a:t>
            </a:r>
            <a:endParaRPr lang="en-US" sz="2800" dirty="0"/>
          </a:p>
        </p:txBody>
      </p:sp>
      <p:sp>
        <p:nvSpPr>
          <p:cNvPr id="5" name="TextBox 4">
            <a:extLst>
              <a:ext uri="{FF2B5EF4-FFF2-40B4-BE49-F238E27FC236}">
                <a16:creationId xmlns:a16="http://schemas.microsoft.com/office/drawing/2014/main" id="{42ED71FA-2411-A777-708C-F8BDA6DE8DE8}"/>
              </a:ext>
            </a:extLst>
          </p:cNvPr>
          <p:cNvSpPr txBox="1"/>
          <p:nvPr/>
        </p:nvSpPr>
        <p:spPr>
          <a:xfrm>
            <a:off x="1158240" y="5666174"/>
            <a:ext cx="10027920" cy="646331"/>
          </a:xfrm>
          <a:prstGeom prst="rect">
            <a:avLst/>
          </a:prstGeom>
          <a:noFill/>
        </p:spPr>
        <p:txBody>
          <a:bodyPr wrap="square" rtlCol="0">
            <a:spAutoFit/>
          </a:bodyPr>
          <a:lstStyle/>
          <a:p>
            <a:r>
              <a:rPr lang="en-US" dirty="0">
                <a:latin typeface="Sitka Subheading Semibold" pitchFamily="2" charset="0"/>
              </a:rPr>
              <a:t>Chennai, Hyderabad, and Bangalore have the highest number of colleges, while Indore and Tamil Nadu (Other) have the least.</a:t>
            </a:r>
          </a:p>
        </p:txBody>
      </p:sp>
      <p:pic>
        <p:nvPicPr>
          <p:cNvPr id="2" name="Picture 1">
            <a:extLst>
              <a:ext uri="{FF2B5EF4-FFF2-40B4-BE49-F238E27FC236}">
                <a16:creationId xmlns:a16="http://schemas.microsoft.com/office/drawing/2014/main" id="{6060A3F3-D1BD-CAF3-C68A-D0D5148271C2}"/>
              </a:ext>
            </a:extLst>
          </p:cNvPr>
          <p:cNvPicPr>
            <a:picLocks noChangeAspect="1"/>
          </p:cNvPicPr>
          <p:nvPr/>
        </p:nvPicPr>
        <p:blipFill>
          <a:blip r:embed="rId3"/>
          <a:stretch>
            <a:fillRect/>
          </a:stretch>
        </p:blipFill>
        <p:spPr>
          <a:xfrm>
            <a:off x="7114142" y="1100658"/>
            <a:ext cx="3600953" cy="4058216"/>
          </a:xfrm>
          <a:prstGeom prst="rect">
            <a:avLst/>
          </a:prstGeom>
        </p:spPr>
      </p:pic>
    </p:spTree>
    <p:extLst>
      <p:ext uri="{BB962C8B-B14F-4D97-AF65-F5344CB8AC3E}">
        <p14:creationId xmlns:p14="http://schemas.microsoft.com/office/powerpoint/2010/main" val="4097806318"/>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1B49B0-4153-DF22-47BE-9730D5B42EFD}"/>
              </a:ext>
            </a:extLst>
          </p:cNvPr>
          <p:cNvPicPr>
            <a:picLocks noChangeAspect="1"/>
          </p:cNvPicPr>
          <p:nvPr/>
        </p:nvPicPr>
        <p:blipFill>
          <a:blip r:embed="rId2"/>
          <a:stretch>
            <a:fillRect/>
          </a:stretch>
        </p:blipFill>
        <p:spPr>
          <a:xfrm>
            <a:off x="334295" y="1013910"/>
            <a:ext cx="6705601" cy="4234451"/>
          </a:xfrm>
          <a:prstGeom prst="rect">
            <a:avLst/>
          </a:prstGeom>
        </p:spPr>
      </p:pic>
      <p:sp>
        <p:nvSpPr>
          <p:cNvPr id="4" name="TextBox 3">
            <a:extLst>
              <a:ext uri="{FF2B5EF4-FFF2-40B4-BE49-F238E27FC236}">
                <a16:creationId xmlns:a16="http://schemas.microsoft.com/office/drawing/2014/main" id="{98268ECE-6112-E0FC-B8F9-8CAE7F9AC0E9}"/>
              </a:ext>
            </a:extLst>
          </p:cNvPr>
          <p:cNvSpPr txBox="1"/>
          <p:nvPr/>
        </p:nvSpPr>
        <p:spPr>
          <a:xfrm>
            <a:off x="797560" y="5885174"/>
            <a:ext cx="10596880" cy="646331"/>
          </a:xfrm>
          <a:prstGeom prst="rect">
            <a:avLst/>
          </a:prstGeom>
          <a:noFill/>
        </p:spPr>
        <p:txBody>
          <a:bodyPr wrap="square" rtlCol="0">
            <a:spAutoFit/>
          </a:bodyPr>
          <a:lstStyle/>
          <a:p>
            <a:r>
              <a:rPr lang="en-US" dirty="0">
                <a:latin typeface="Sitka Subheading Semibold" pitchFamily="2" charset="0"/>
              </a:rPr>
              <a:t>CBSE 12th / ISC and MHT CET/JEE Main are the most widely accepted exams, while GUJCET and HSTES are among the least accepted in the top 10.</a:t>
            </a:r>
          </a:p>
        </p:txBody>
      </p:sp>
      <p:pic>
        <p:nvPicPr>
          <p:cNvPr id="2" name="Picture 1">
            <a:extLst>
              <a:ext uri="{FF2B5EF4-FFF2-40B4-BE49-F238E27FC236}">
                <a16:creationId xmlns:a16="http://schemas.microsoft.com/office/drawing/2014/main" id="{DC6074FE-5461-17B9-F9AA-C907E2A9C6F3}"/>
              </a:ext>
            </a:extLst>
          </p:cNvPr>
          <p:cNvPicPr>
            <a:picLocks noChangeAspect="1"/>
          </p:cNvPicPr>
          <p:nvPr/>
        </p:nvPicPr>
        <p:blipFill>
          <a:blip r:embed="rId3"/>
          <a:stretch>
            <a:fillRect/>
          </a:stretch>
        </p:blipFill>
        <p:spPr>
          <a:xfrm>
            <a:off x="7706424" y="775040"/>
            <a:ext cx="3562847" cy="4712192"/>
          </a:xfrm>
          <a:prstGeom prst="rect">
            <a:avLst/>
          </a:prstGeom>
        </p:spPr>
      </p:pic>
    </p:spTree>
    <p:extLst>
      <p:ext uri="{BB962C8B-B14F-4D97-AF65-F5344CB8AC3E}">
        <p14:creationId xmlns:p14="http://schemas.microsoft.com/office/powerpoint/2010/main" val="2513947128"/>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BAE947-8CF7-7D89-596A-B6B2B2AB913C}"/>
              </a:ext>
            </a:extLst>
          </p:cNvPr>
          <p:cNvPicPr>
            <a:picLocks noChangeAspect="1"/>
          </p:cNvPicPr>
          <p:nvPr/>
        </p:nvPicPr>
        <p:blipFill>
          <a:blip r:embed="rId2"/>
          <a:stretch>
            <a:fillRect/>
          </a:stretch>
        </p:blipFill>
        <p:spPr>
          <a:xfrm>
            <a:off x="875071" y="3616024"/>
            <a:ext cx="10359814" cy="3241975"/>
          </a:xfrm>
          <a:prstGeom prst="rect">
            <a:avLst/>
          </a:prstGeom>
        </p:spPr>
      </p:pic>
      <p:pic>
        <p:nvPicPr>
          <p:cNvPr id="5" name="Picture 4">
            <a:extLst>
              <a:ext uri="{FF2B5EF4-FFF2-40B4-BE49-F238E27FC236}">
                <a16:creationId xmlns:a16="http://schemas.microsoft.com/office/drawing/2014/main" id="{138960F3-4241-B702-2BAA-840D60B1C854}"/>
              </a:ext>
            </a:extLst>
          </p:cNvPr>
          <p:cNvPicPr>
            <a:picLocks noChangeAspect="1"/>
          </p:cNvPicPr>
          <p:nvPr/>
        </p:nvPicPr>
        <p:blipFill>
          <a:blip r:embed="rId3"/>
          <a:stretch>
            <a:fillRect/>
          </a:stretch>
        </p:blipFill>
        <p:spPr>
          <a:xfrm>
            <a:off x="957115" y="495061"/>
            <a:ext cx="9750214" cy="3120963"/>
          </a:xfrm>
          <a:prstGeom prst="rect">
            <a:avLst/>
          </a:prstGeom>
        </p:spPr>
      </p:pic>
      <p:sp>
        <p:nvSpPr>
          <p:cNvPr id="6" name="TextBox 5">
            <a:extLst>
              <a:ext uri="{FF2B5EF4-FFF2-40B4-BE49-F238E27FC236}">
                <a16:creationId xmlns:a16="http://schemas.microsoft.com/office/drawing/2014/main" id="{81DB2877-0179-FC97-F059-E82AF68ACDEE}"/>
              </a:ext>
            </a:extLst>
          </p:cNvPr>
          <p:cNvSpPr txBox="1"/>
          <p:nvPr/>
        </p:nvSpPr>
        <p:spPr>
          <a:xfrm>
            <a:off x="1142235" y="50883"/>
            <a:ext cx="9379974" cy="646331"/>
          </a:xfrm>
          <a:prstGeom prst="rect">
            <a:avLst/>
          </a:prstGeom>
          <a:noFill/>
        </p:spPr>
        <p:txBody>
          <a:bodyPr wrap="square" rtlCol="0">
            <a:spAutoFit/>
          </a:bodyPr>
          <a:lstStyle/>
          <a:p>
            <a:r>
              <a:rPr lang="en-US" dirty="0">
                <a:solidFill>
                  <a:schemeClr val="accent1">
                    <a:lumMod val="75000"/>
                  </a:schemeClr>
                </a:solidFill>
                <a:latin typeface="Arial Black" panose="020B0A04020102020204" pitchFamily="34" charset="0"/>
              </a:rPr>
              <a:t>BIVARIATE ANALYSIS ON NUMERICAL VS NUMERICAL COLUMNS</a:t>
            </a:r>
          </a:p>
          <a:p>
            <a:endParaRPr lang="en-US" dirty="0">
              <a:solidFill>
                <a:schemeClr val="accent1">
                  <a:lumMod val="75000"/>
                </a:schemeClr>
              </a:solidFill>
              <a:latin typeface="Arial Black" panose="020B0A04020102020204" pitchFamily="34" charset="0"/>
            </a:endParaRPr>
          </a:p>
        </p:txBody>
      </p:sp>
    </p:spTree>
    <p:extLst>
      <p:ext uri="{BB962C8B-B14F-4D97-AF65-F5344CB8AC3E}">
        <p14:creationId xmlns:p14="http://schemas.microsoft.com/office/powerpoint/2010/main" val="240764193"/>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A682EF-5AA6-1235-147D-14758A5A2CAE}"/>
              </a:ext>
            </a:extLst>
          </p:cNvPr>
          <p:cNvSpPr txBox="1"/>
          <p:nvPr/>
        </p:nvSpPr>
        <p:spPr>
          <a:xfrm>
            <a:off x="1656080" y="259060"/>
            <a:ext cx="9662160" cy="523220"/>
          </a:xfrm>
          <a:prstGeom prst="rect">
            <a:avLst/>
          </a:prstGeom>
          <a:noFill/>
        </p:spPr>
        <p:txBody>
          <a:bodyPr wrap="square" rtlCol="0">
            <a:spAutoFit/>
          </a:bodyPr>
          <a:lstStyle/>
          <a:p>
            <a:r>
              <a:rPr lang="en-US" sz="2800" b="1" dirty="0">
                <a:solidFill>
                  <a:schemeClr val="accent1">
                    <a:lumMod val="75000"/>
                  </a:schemeClr>
                </a:solidFill>
                <a:latin typeface="Arial Black" panose="020B0A04020102020204" pitchFamily="34" charset="0"/>
              </a:rPr>
              <a:t>College ROI (Return on Investment) Finder</a:t>
            </a:r>
          </a:p>
        </p:txBody>
      </p:sp>
      <p:pic>
        <p:nvPicPr>
          <p:cNvPr id="4" name="Picture 3">
            <a:extLst>
              <a:ext uri="{FF2B5EF4-FFF2-40B4-BE49-F238E27FC236}">
                <a16:creationId xmlns:a16="http://schemas.microsoft.com/office/drawing/2014/main" id="{D979A3D1-DA2D-4503-C3FA-E163F66F8EB9}"/>
              </a:ext>
            </a:extLst>
          </p:cNvPr>
          <p:cNvPicPr>
            <a:picLocks noChangeAspect="1"/>
          </p:cNvPicPr>
          <p:nvPr/>
        </p:nvPicPr>
        <p:blipFill>
          <a:blip r:embed="rId2"/>
          <a:stretch>
            <a:fillRect/>
          </a:stretch>
        </p:blipFill>
        <p:spPr>
          <a:xfrm>
            <a:off x="167731" y="883880"/>
            <a:ext cx="7792537" cy="5895198"/>
          </a:xfrm>
          <a:prstGeom prst="rect">
            <a:avLst/>
          </a:prstGeom>
        </p:spPr>
      </p:pic>
      <p:sp>
        <p:nvSpPr>
          <p:cNvPr id="5" name="TextBox 4">
            <a:extLst>
              <a:ext uri="{FF2B5EF4-FFF2-40B4-BE49-F238E27FC236}">
                <a16:creationId xmlns:a16="http://schemas.microsoft.com/office/drawing/2014/main" id="{2A92DCED-9FD5-E6B9-7E89-0A40CAF1BC62}"/>
              </a:ext>
            </a:extLst>
          </p:cNvPr>
          <p:cNvSpPr txBox="1"/>
          <p:nvPr/>
        </p:nvSpPr>
        <p:spPr>
          <a:xfrm>
            <a:off x="7376160" y="1330921"/>
            <a:ext cx="4135120" cy="5309146"/>
          </a:xfrm>
          <a:prstGeom prst="rect">
            <a:avLst/>
          </a:prstGeom>
          <a:noFill/>
        </p:spPr>
        <p:txBody>
          <a:bodyPr wrap="square" rtlCol="0">
            <a:spAutoFit/>
          </a:bodyPr>
          <a:lstStyle/>
          <a:p>
            <a:r>
              <a:rPr lang="en-US" dirty="0">
                <a:latin typeface="Sitka Subheading Semibold" pitchFamily="2" charset="0"/>
              </a:rPr>
              <a:t>    </a:t>
            </a:r>
            <a:r>
              <a:rPr lang="en-US" sz="2400" dirty="0">
                <a:latin typeface="Sitka Subheading Semibold" pitchFamily="2" charset="0"/>
              </a:rPr>
              <a:t>Observation</a:t>
            </a:r>
            <a:endParaRPr lang="en-US" dirty="0">
              <a:latin typeface="Sitka Subheading Semibold" pitchFamily="2" charset="0"/>
            </a:endParaRPr>
          </a:p>
          <a:p>
            <a:pPr marL="285750" indent="-285750">
              <a:lnSpc>
                <a:spcPct val="150000"/>
              </a:lnSpc>
              <a:buFont typeface="Wingdings" panose="05000000000000000000" pitchFamily="2" charset="2"/>
              <a:buChar char="Ø"/>
            </a:pPr>
            <a:r>
              <a:rPr lang="en-US" dirty="0">
                <a:latin typeface="Sitka Subheading Semibold" pitchFamily="2" charset="0"/>
              </a:rPr>
              <a:t>Mizoram University has the highest ROI.</a:t>
            </a:r>
          </a:p>
          <a:p>
            <a:pPr marL="285750" indent="-285750">
              <a:lnSpc>
                <a:spcPct val="150000"/>
              </a:lnSpc>
              <a:buFont typeface="Wingdings" panose="05000000000000000000" pitchFamily="2" charset="2"/>
              <a:buChar char="Ø"/>
            </a:pPr>
            <a:r>
              <a:rPr lang="en-US" dirty="0">
                <a:latin typeface="Sitka Subheading Semibold" pitchFamily="2" charset="0"/>
              </a:rPr>
              <a:t>Netaji Subhas University and IIT Madras also show strong returns.</a:t>
            </a:r>
          </a:p>
          <a:p>
            <a:pPr marL="285750" indent="-285750">
              <a:lnSpc>
                <a:spcPct val="150000"/>
              </a:lnSpc>
              <a:buFont typeface="Wingdings" panose="05000000000000000000" pitchFamily="2" charset="2"/>
              <a:buChar char="Ø"/>
            </a:pPr>
            <a:r>
              <a:rPr lang="en-US" dirty="0">
                <a:latin typeface="Sitka Subheading Semibold" pitchFamily="2" charset="0"/>
              </a:rPr>
              <a:t>Some lesser-known colleges (like Arya College, Muzaffarpur Institute of Technology) perform well → hidden gems for students.</a:t>
            </a:r>
          </a:p>
          <a:p>
            <a:pPr marL="285750" indent="-285750">
              <a:lnSpc>
                <a:spcPct val="150000"/>
              </a:lnSpc>
              <a:buFont typeface="Wingdings" panose="05000000000000000000" pitchFamily="2" charset="2"/>
              <a:buChar char="Ø"/>
            </a:pPr>
            <a:r>
              <a:rPr lang="en-US" dirty="0">
                <a:latin typeface="Sitka Subheading Semibold" pitchFamily="2" charset="0"/>
              </a:rPr>
              <a:t>ROI is not only about big names; affordable colleges also give great value.</a:t>
            </a:r>
          </a:p>
          <a:p>
            <a:pPr marL="285750" indent="-285750">
              <a:buFont typeface="Wingdings" panose="05000000000000000000" pitchFamily="2" charset="2"/>
              <a:buChar char="Ø"/>
            </a:pPr>
            <a:endParaRPr lang="en-US" dirty="0">
              <a:latin typeface="Sitka Subheading Semibold" pitchFamily="2" charset="0"/>
            </a:endParaRPr>
          </a:p>
        </p:txBody>
      </p:sp>
    </p:spTree>
    <p:extLst>
      <p:ext uri="{BB962C8B-B14F-4D97-AF65-F5344CB8AC3E}">
        <p14:creationId xmlns:p14="http://schemas.microsoft.com/office/powerpoint/2010/main" val="93410850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96F002-0106-8BB9-AB98-4BBA5541FCC2}"/>
              </a:ext>
            </a:extLst>
          </p:cNvPr>
          <p:cNvPicPr>
            <a:picLocks noChangeAspect="1"/>
          </p:cNvPicPr>
          <p:nvPr/>
        </p:nvPicPr>
        <p:blipFill>
          <a:blip r:embed="rId2"/>
          <a:stretch>
            <a:fillRect/>
          </a:stretch>
        </p:blipFill>
        <p:spPr>
          <a:xfrm>
            <a:off x="459445" y="721360"/>
            <a:ext cx="6591595" cy="5203823"/>
          </a:xfrm>
          <a:prstGeom prst="rect">
            <a:avLst/>
          </a:prstGeom>
        </p:spPr>
      </p:pic>
      <p:sp>
        <p:nvSpPr>
          <p:cNvPr id="4" name="TextBox 3">
            <a:extLst>
              <a:ext uri="{FF2B5EF4-FFF2-40B4-BE49-F238E27FC236}">
                <a16:creationId xmlns:a16="http://schemas.microsoft.com/office/drawing/2014/main" id="{DA6C364D-B2DC-AE0F-9A10-D310BB54D05C}"/>
              </a:ext>
            </a:extLst>
          </p:cNvPr>
          <p:cNvSpPr txBox="1"/>
          <p:nvPr/>
        </p:nvSpPr>
        <p:spPr>
          <a:xfrm>
            <a:off x="6957355" y="891836"/>
            <a:ext cx="4775200" cy="4862870"/>
          </a:xfrm>
          <a:prstGeom prst="rect">
            <a:avLst/>
          </a:prstGeom>
          <a:noFill/>
        </p:spPr>
        <p:txBody>
          <a:bodyPr wrap="square" rtlCol="0">
            <a:spAutoFit/>
          </a:bodyPr>
          <a:lstStyle/>
          <a:p>
            <a:r>
              <a:rPr lang="en-US" sz="2000" b="1" dirty="0">
                <a:latin typeface="Sitka Subheading Semibold" pitchFamily="2" charset="0"/>
              </a:rPr>
              <a:t>Observation</a:t>
            </a:r>
          </a:p>
          <a:p>
            <a:pPr marL="342900" indent="-342900">
              <a:lnSpc>
                <a:spcPct val="150000"/>
              </a:lnSpc>
              <a:buFont typeface="Wingdings" panose="05000000000000000000" pitchFamily="2" charset="2"/>
              <a:buChar char="Ø"/>
            </a:pPr>
            <a:r>
              <a:rPr lang="en-US" sz="2000" dirty="0">
                <a:latin typeface="Sitka Subheading Semibold" pitchFamily="2" charset="0"/>
              </a:rPr>
              <a:t>Most colleges cluster around </a:t>
            </a:r>
            <a:r>
              <a:rPr lang="en-US" sz="2000" b="1" dirty="0">
                <a:latin typeface="Sitka Subheading Semibold" pitchFamily="2" charset="0"/>
              </a:rPr>
              <a:t>low to moderate fees</a:t>
            </a:r>
            <a:r>
              <a:rPr lang="en-US" sz="2000" dirty="0">
                <a:latin typeface="Sitka Subheading Semibold" pitchFamily="2" charset="0"/>
              </a:rPr>
              <a:t> (0–20L) with </a:t>
            </a:r>
            <a:r>
              <a:rPr lang="en-US" sz="2000" b="1" dirty="0">
                <a:latin typeface="Sitka Subheading Semibold" pitchFamily="2" charset="0"/>
              </a:rPr>
              <a:t>average placements</a:t>
            </a:r>
            <a:r>
              <a:rPr lang="en-US" sz="2000" dirty="0">
                <a:latin typeface="Sitka Subheading Semibold" pitchFamily="2" charset="0"/>
              </a:rPr>
              <a:t> (2–10L).</a:t>
            </a:r>
          </a:p>
          <a:p>
            <a:pPr marL="342900" indent="-342900">
              <a:lnSpc>
                <a:spcPct val="150000"/>
              </a:lnSpc>
              <a:buFont typeface="Wingdings" panose="05000000000000000000" pitchFamily="2" charset="2"/>
              <a:buChar char="Ø"/>
            </a:pPr>
            <a:r>
              <a:rPr lang="en-US" sz="2000" dirty="0">
                <a:latin typeface="Sitka Subheading Semibold" pitchFamily="2" charset="0"/>
              </a:rPr>
              <a:t>A few </a:t>
            </a:r>
            <a:r>
              <a:rPr lang="en-US" sz="2000" dirty="0" err="1">
                <a:latin typeface="Sitka Subheading Semibold" pitchFamily="2" charset="0"/>
              </a:rPr>
              <a:t>collegs</a:t>
            </a:r>
            <a:r>
              <a:rPr lang="en-US" sz="2000" dirty="0">
                <a:latin typeface="Sitka Subheading Semibold" pitchFamily="2" charset="0"/>
              </a:rPr>
              <a:t> show </a:t>
            </a:r>
            <a:r>
              <a:rPr lang="en-US" sz="2000" b="1" dirty="0">
                <a:latin typeface="Sitka Subheading Semibold" pitchFamily="2" charset="0"/>
              </a:rPr>
              <a:t>exceptionally high placements</a:t>
            </a:r>
            <a:r>
              <a:rPr lang="en-US" sz="2000" dirty="0">
                <a:latin typeface="Sitka Subheading Semibold" pitchFamily="2" charset="0"/>
              </a:rPr>
              <a:t> (up to 48L) even with </a:t>
            </a:r>
            <a:r>
              <a:rPr lang="en-US" sz="2000" b="1" dirty="0">
                <a:latin typeface="Sitka Subheading Semibold" pitchFamily="2" charset="0"/>
              </a:rPr>
              <a:t>low fees → very high ROI</a:t>
            </a:r>
            <a:r>
              <a:rPr lang="en-US" sz="2000" dirty="0">
                <a:latin typeface="Sitka Subheading Semibold" pitchFamily="2" charset="0"/>
              </a:rPr>
              <a:t>.</a:t>
            </a:r>
          </a:p>
          <a:p>
            <a:pPr marL="342900" indent="-342900">
              <a:lnSpc>
                <a:spcPct val="150000"/>
              </a:lnSpc>
              <a:buFont typeface="Wingdings" panose="05000000000000000000" pitchFamily="2" charset="2"/>
              <a:buChar char="Ø"/>
            </a:pPr>
            <a:r>
              <a:rPr lang="en-US" sz="2000" dirty="0">
                <a:latin typeface="Sitka Subheading Semibold" pitchFamily="2" charset="0"/>
              </a:rPr>
              <a:t>Colleges with </a:t>
            </a:r>
            <a:r>
              <a:rPr lang="en-US" sz="2000" b="1" dirty="0">
                <a:latin typeface="Sitka Subheading Semibold" pitchFamily="2" charset="0"/>
              </a:rPr>
              <a:t>very high fees (&gt;50L)</a:t>
            </a:r>
            <a:r>
              <a:rPr lang="en-US" sz="2000" dirty="0">
                <a:latin typeface="Sitka Subheading Semibold" pitchFamily="2" charset="0"/>
              </a:rPr>
              <a:t> do not always guarantee high placement → </a:t>
            </a:r>
            <a:r>
              <a:rPr lang="en-US" sz="2000" b="1" dirty="0">
                <a:latin typeface="Sitka Subheading Semibold" pitchFamily="2" charset="0"/>
              </a:rPr>
              <a:t>lower ROI</a:t>
            </a:r>
            <a:r>
              <a:rPr lang="en-US" sz="2000" dirty="0">
                <a:latin typeface="Sitka Subheading Semibold" pitchFamily="2" charset="0"/>
              </a:rPr>
              <a:t>.</a:t>
            </a:r>
          </a:p>
          <a:p>
            <a:endParaRPr lang="en-US" sz="2000" dirty="0">
              <a:latin typeface="Sitka Subheading Semibold" pitchFamily="2" charset="0"/>
            </a:endParaRPr>
          </a:p>
        </p:txBody>
      </p:sp>
    </p:spTree>
    <p:extLst>
      <p:ext uri="{BB962C8B-B14F-4D97-AF65-F5344CB8AC3E}">
        <p14:creationId xmlns:p14="http://schemas.microsoft.com/office/powerpoint/2010/main" val="3372805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F96823-8010-0424-3C72-E9AF243A1C12}"/>
              </a:ext>
            </a:extLst>
          </p:cNvPr>
          <p:cNvPicPr>
            <a:picLocks noChangeAspect="1"/>
          </p:cNvPicPr>
          <p:nvPr/>
        </p:nvPicPr>
        <p:blipFill>
          <a:blip r:embed="rId2"/>
          <a:stretch>
            <a:fillRect/>
          </a:stretch>
        </p:blipFill>
        <p:spPr>
          <a:xfrm>
            <a:off x="720109" y="728634"/>
            <a:ext cx="5640051" cy="4953691"/>
          </a:xfrm>
          <a:prstGeom prst="rect">
            <a:avLst/>
          </a:prstGeom>
        </p:spPr>
      </p:pic>
      <p:sp>
        <p:nvSpPr>
          <p:cNvPr id="4" name="TextBox 3">
            <a:extLst>
              <a:ext uri="{FF2B5EF4-FFF2-40B4-BE49-F238E27FC236}">
                <a16:creationId xmlns:a16="http://schemas.microsoft.com/office/drawing/2014/main" id="{4C3D0762-0163-1606-508E-C9A3F78B8605}"/>
              </a:ext>
            </a:extLst>
          </p:cNvPr>
          <p:cNvSpPr txBox="1"/>
          <p:nvPr/>
        </p:nvSpPr>
        <p:spPr>
          <a:xfrm>
            <a:off x="7264400" y="840394"/>
            <a:ext cx="4643120" cy="3970318"/>
          </a:xfrm>
          <a:prstGeom prst="rect">
            <a:avLst/>
          </a:prstGeom>
          <a:noFill/>
        </p:spPr>
        <p:txBody>
          <a:bodyPr wrap="square" rtlCol="0">
            <a:spAutoFit/>
          </a:bodyPr>
          <a:lstStyle/>
          <a:p>
            <a:r>
              <a:rPr lang="en-US" b="1" dirty="0">
                <a:latin typeface="Sitka Subheading Semibold" pitchFamily="2" charset="0"/>
              </a:rPr>
              <a:t>Observation</a:t>
            </a:r>
          </a:p>
          <a:p>
            <a:pPr marL="285750" indent="-285750">
              <a:lnSpc>
                <a:spcPct val="150000"/>
              </a:lnSpc>
              <a:buFont typeface="Wingdings" panose="05000000000000000000" pitchFamily="2" charset="2"/>
              <a:buChar char="Ø"/>
            </a:pPr>
            <a:r>
              <a:rPr lang="en-US" dirty="0">
                <a:latin typeface="Sitka Subheading Semibold" pitchFamily="2" charset="0"/>
              </a:rPr>
              <a:t>Mizoram University has the </a:t>
            </a:r>
            <a:r>
              <a:rPr lang="en-US" b="1" dirty="0">
                <a:latin typeface="Sitka Subheading Semibold" pitchFamily="2" charset="0"/>
              </a:rPr>
              <a:t>highest ROI</a:t>
            </a:r>
            <a:r>
              <a:rPr lang="en-US" dirty="0">
                <a:latin typeface="Sitka Subheading Semibold" pitchFamily="2" charset="0"/>
              </a:rPr>
              <a:t> among top colleges (14.8%).</a:t>
            </a:r>
          </a:p>
          <a:p>
            <a:pPr marL="285750" indent="-285750">
              <a:lnSpc>
                <a:spcPct val="150000"/>
              </a:lnSpc>
              <a:buFont typeface="Wingdings" panose="05000000000000000000" pitchFamily="2" charset="2"/>
              <a:buChar char="Ø"/>
            </a:pPr>
            <a:r>
              <a:rPr lang="en-US" dirty="0">
                <a:latin typeface="Sitka Subheading Semibold" pitchFamily="2" charset="0"/>
              </a:rPr>
              <a:t>Other top ROI colleges include </a:t>
            </a:r>
            <a:r>
              <a:rPr lang="en-US" b="1" dirty="0">
                <a:latin typeface="Sitka Subheading Semibold" pitchFamily="2" charset="0"/>
              </a:rPr>
              <a:t>Netaji Subhas University (11.2%)</a:t>
            </a:r>
            <a:r>
              <a:rPr lang="en-US" dirty="0">
                <a:latin typeface="Sitka Subheading Semibold" pitchFamily="2" charset="0"/>
              </a:rPr>
              <a:t>, </a:t>
            </a:r>
            <a:r>
              <a:rPr lang="en-US" b="1" dirty="0">
                <a:latin typeface="Sitka Subheading Semibold" pitchFamily="2" charset="0"/>
              </a:rPr>
              <a:t>IIT Madras (10.8%)</a:t>
            </a:r>
            <a:r>
              <a:rPr lang="en-US" dirty="0">
                <a:latin typeface="Sitka Subheading Semibold" pitchFamily="2" charset="0"/>
              </a:rPr>
              <a:t>, and </a:t>
            </a:r>
            <a:r>
              <a:rPr lang="en-US" b="1" dirty="0">
                <a:latin typeface="Sitka Subheading Semibold" pitchFamily="2" charset="0"/>
              </a:rPr>
              <a:t>MNIT Jaipur (9.8%)</a:t>
            </a:r>
            <a:r>
              <a:rPr lang="en-US" dirty="0">
                <a:latin typeface="Sitka Subheading Semibold" pitchFamily="2" charset="0"/>
              </a:rPr>
              <a:t>.</a:t>
            </a:r>
          </a:p>
          <a:p>
            <a:pPr marL="285750" indent="-285750">
              <a:lnSpc>
                <a:spcPct val="150000"/>
              </a:lnSpc>
              <a:buFont typeface="Wingdings" panose="05000000000000000000" pitchFamily="2" charset="2"/>
              <a:buChar char="Ø"/>
            </a:pPr>
            <a:r>
              <a:rPr lang="en-US" dirty="0">
                <a:latin typeface="Sitka Subheading Semibold" pitchFamily="2" charset="0"/>
              </a:rPr>
              <a:t>The top 10 colleges show a </a:t>
            </a:r>
            <a:r>
              <a:rPr lang="en-US" b="1" dirty="0">
                <a:latin typeface="Sitka Subheading Semibold" pitchFamily="2" charset="0"/>
              </a:rPr>
              <a:t>balanced </a:t>
            </a:r>
            <a:r>
              <a:rPr lang="en-US" b="1" dirty="0" err="1">
                <a:latin typeface="Sitka Subheading Semibold" pitchFamily="2" charset="0"/>
              </a:rPr>
              <a:t>distribuion</a:t>
            </a:r>
            <a:r>
              <a:rPr lang="en-US" b="1" dirty="0">
                <a:latin typeface="Sitka Subheading Semibold" pitchFamily="2" charset="0"/>
              </a:rPr>
              <a:t> of ROI</a:t>
            </a:r>
            <a:r>
              <a:rPr lang="en-US" dirty="0">
                <a:latin typeface="Sitka Subheading Semibold" pitchFamily="2" charset="0"/>
              </a:rPr>
              <a:t>, with each contributing significantly.</a:t>
            </a:r>
          </a:p>
          <a:p>
            <a:pPr marL="285750" indent="-285750">
              <a:buFont typeface="Wingdings" panose="05000000000000000000" pitchFamily="2" charset="2"/>
              <a:buChar char="Ø"/>
            </a:pPr>
            <a:endParaRPr lang="en-US" dirty="0">
              <a:latin typeface="Sitka Subheading Semibold" pitchFamily="2" charset="0"/>
            </a:endParaRPr>
          </a:p>
        </p:txBody>
      </p:sp>
    </p:spTree>
    <p:extLst>
      <p:ext uri="{BB962C8B-B14F-4D97-AF65-F5344CB8AC3E}">
        <p14:creationId xmlns:p14="http://schemas.microsoft.com/office/powerpoint/2010/main" val="554614845"/>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0933C5-D57A-4CEA-BB1D-009FDC5F2BC9}"/>
              </a:ext>
            </a:extLst>
          </p:cNvPr>
          <p:cNvSpPr txBox="1"/>
          <p:nvPr/>
        </p:nvSpPr>
        <p:spPr>
          <a:xfrm>
            <a:off x="640080" y="274321"/>
            <a:ext cx="6502400" cy="646331"/>
          </a:xfrm>
          <a:prstGeom prst="rect">
            <a:avLst/>
          </a:prstGeom>
          <a:noFill/>
        </p:spPr>
        <p:txBody>
          <a:bodyPr wrap="square" rtlCol="0">
            <a:spAutoFit/>
          </a:bodyPr>
          <a:lstStyle/>
          <a:p>
            <a:r>
              <a:rPr lang="en-US" dirty="0">
                <a:solidFill>
                  <a:schemeClr val="accent1">
                    <a:lumMod val="75000"/>
                  </a:schemeClr>
                </a:solidFill>
                <a:latin typeface="Arial Black" panose="020B0A04020102020204" pitchFamily="34" charset="0"/>
              </a:rPr>
              <a:t>2. Best College for a Specific Entrance Exam</a:t>
            </a:r>
          </a:p>
          <a:p>
            <a:endParaRPr lang="en-US" dirty="0">
              <a:solidFill>
                <a:schemeClr val="accent1">
                  <a:lumMod val="75000"/>
                </a:schemeClr>
              </a:solidFill>
              <a:latin typeface="Arial Black" panose="020B0A04020102020204" pitchFamily="34" charset="0"/>
            </a:endParaRPr>
          </a:p>
        </p:txBody>
      </p:sp>
      <p:pic>
        <p:nvPicPr>
          <p:cNvPr id="4" name="Picture 3">
            <a:extLst>
              <a:ext uri="{FF2B5EF4-FFF2-40B4-BE49-F238E27FC236}">
                <a16:creationId xmlns:a16="http://schemas.microsoft.com/office/drawing/2014/main" id="{26BDAA3F-24DD-73A8-1A5F-0909B18CC36C}"/>
              </a:ext>
            </a:extLst>
          </p:cNvPr>
          <p:cNvPicPr>
            <a:picLocks noChangeAspect="1"/>
          </p:cNvPicPr>
          <p:nvPr/>
        </p:nvPicPr>
        <p:blipFill>
          <a:blip r:embed="rId2"/>
          <a:stretch>
            <a:fillRect/>
          </a:stretch>
        </p:blipFill>
        <p:spPr>
          <a:xfrm>
            <a:off x="457237" y="789877"/>
            <a:ext cx="5756749" cy="5650252"/>
          </a:xfrm>
          <a:prstGeom prst="rect">
            <a:avLst/>
          </a:prstGeom>
        </p:spPr>
      </p:pic>
      <p:pic>
        <p:nvPicPr>
          <p:cNvPr id="6" name="Picture 5">
            <a:extLst>
              <a:ext uri="{FF2B5EF4-FFF2-40B4-BE49-F238E27FC236}">
                <a16:creationId xmlns:a16="http://schemas.microsoft.com/office/drawing/2014/main" id="{ED7B058F-678A-2D8C-C525-063AF200FD17}"/>
              </a:ext>
            </a:extLst>
          </p:cNvPr>
          <p:cNvPicPr>
            <a:picLocks noChangeAspect="1"/>
          </p:cNvPicPr>
          <p:nvPr/>
        </p:nvPicPr>
        <p:blipFill>
          <a:blip r:embed="rId3"/>
          <a:stretch>
            <a:fillRect/>
          </a:stretch>
        </p:blipFill>
        <p:spPr>
          <a:xfrm>
            <a:off x="6096000" y="855265"/>
            <a:ext cx="5516842" cy="5650252"/>
          </a:xfrm>
          <a:prstGeom prst="rect">
            <a:avLst/>
          </a:prstGeom>
        </p:spPr>
      </p:pic>
    </p:spTree>
    <p:extLst>
      <p:ext uri="{BB962C8B-B14F-4D97-AF65-F5344CB8AC3E}">
        <p14:creationId xmlns:p14="http://schemas.microsoft.com/office/powerpoint/2010/main" val="2451034813"/>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0BF333-E4FB-C512-8644-E64D39213720}"/>
              </a:ext>
            </a:extLst>
          </p:cNvPr>
          <p:cNvPicPr>
            <a:picLocks noChangeAspect="1"/>
          </p:cNvPicPr>
          <p:nvPr/>
        </p:nvPicPr>
        <p:blipFill>
          <a:blip r:embed="rId2"/>
          <a:stretch>
            <a:fillRect/>
          </a:stretch>
        </p:blipFill>
        <p:spPr>
          <a:xfrm>
            <a:off x="682907" y="248539"/>
            <a:ext cx="10826186" cy="4824461"/>
          </a:xfrm>
          <a:prstGeom prst="rect">
            <a:avLst/>
          </a:prstGeom>
        </p:spPr>
      </p:pic>
      <p:sp>
        <p:nvSpPr>
          <p:cNvPr id="4" name="TextBox 3">
            <a:extLst>
              <a:ext uri="{FF2B5EF4-FFF2-40B4-BE49-F238E27FC236}">
                <a16:creationId xmlns:a16="http://schemas.microsoft.com/office/drawing/2014/main" id="{CB875EBF-1B99-9675-3319-0CDF2B317830}"/>
              </a:ext>
            </a:extLst>
          </p:cNvPr>
          <p:cNvSpPr txBox="1"/>
          <p:nvPr/>
        </p:nvSpPr>
        <p:spPr>
          <a:xfrm>
            <a:off x="1145894" y="5530772"/>
            <a:ext cx="10313042" cy="873316"/>
          </a:xfrm>
          <a:prstGeom prst="rect">
            <a:avLst/>
          </a:prstGeom>
          <a:noFill/>
        </p:spPr>
        <p:txBody>
          <a:bodyPr wrap="square" rtlCol="0">
            <a:spAutoFit/>
          </a:bodyPr>
          <a:lstStyle/>
          <a:p>
            <a:pPr>
              <a:lnSpc>
                <a:spcPct val="150000"/>
              </a:lnSpc>
            </a:pPr>
            <a:r>
              <a:rPr lang="en-US" dirty="0">
                <a:latin typeface="Sitka Subheading Semibold" pitchFamily="2" charset="0"/>
              </a:rPr>
              <a:t>These three graphs show the Top 20 Colleges based on their average placement packages for the entrance exams JEE Main, MHT-CET, and UPTAC.</a:t>
            </a:r>
          </a:p>
        </p:txBody>
      </p:sp>
    </p:spTree>
    <p:extLst>
      <p:ext uri="{BB962C8B-B14F-4D97-AF65-F5344CB8AC3E}">
        <p14:creationId xmlns:p14="http://schemas.microsoft.com/office/powerpoint/2010/main" val="1525355310"/>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61FC6E-AB40-E1FD-01FE-6B683667FC0F}"/>
              </a:ext>
            </a:extLst>
          </p:cNvPr>
          <p:cNvSpPr txBox="1"/>
          <p:nvPr/>
        </p:nvSpPr>
        <p:spPr>
          <a:xfrm>
            <a:off x="2812649" y="277792"/>
            <a:ext cx="7349924" cy="646331"/>
          </a:xfrm>
          <a:prstGeom prst="rect">
            <a:avLst/>
          </a:prstGeom>
          <a:noFill/>
        </p:spPr>
        <p:txBody>
          <a:bodyPr wrap="square" rtlCol="0">
            <a:spAutoFit/>
          </a:bodyPr>
          <a:lstStyle/>
          <a:p>
            <a:r>
              <a:rPr lang="en-US" sz="3600" dirty="0">
                <a:solidFill>
                  <a:schemeClr val="accent1">
                    <a:lumMod val="75000"/>
                  </a:schemeClr>
                </a:solidFill>
                <a:latin typeface="Arial Black" panose="020B0A04020102020204" pitchFamily="34" charset="0"/>
              </a:rPr>
              <a:t>CITY WISE COMPARISON</a:t>
            </a:r>
          </a:p>
        </p:txBody>
      </p:sp>
      <p:pic>
        <p:nvPicPr>
          <p:cNvPr id="4" name="Picture 3">
            <a:extLst>
              <a:ext uri="{FF2B5EF4-FFF2-40B4-BE49-F238E27FC236}">
                <a16:creationId xmlns:a16="http://schemas.microsoft.com/office/drawing/2014/main" id="{16DC393B-2A4A-DB88-13F9-BB38EF9E8314}"/>
              </a:ext>
            </a:extLst>
          </p:cNvPr>
          <p:cNvPicPr>
            <a:picLocks noChangeAspect="1"/>
          </p:cNvPicPr>
          <p:nvPr/>
        </p:nvPicPr>
        <p:blipFill>
          <a:blip r:embed="rId2"/>
          <a:stretch>
            <a:fillRect/>
          </a:stretch>
        </p:blipFill>
        <p:spPr>
          <a:xfrm>
            <a:off x="462987" y="1043452"/>
            <a:ext cx="11076971" cy="5814548"/>
          </a:xfrm>
          <a:prstGeom prst="rect">
            <a:avLst/>
          </a:prstGeom>
        </p:spPr>
      </p:pic>
    </p:spTree>
    <p:extLst>
      <p:ext uri="{BB962C8B-B14F-4D97-AF65-F5344CB8AC3E}">
        <p14:creationId xmlns:p14="http://schemas.microsoft.com/office/powerpoint/2010/main" val="721545075"/>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17C730-7D22-49B6-8585-266965060EAE}"/>
              </a:ext>
            </a:extLst>
          </p:cNvPr>
          <p:cNvPicPr>
            <a:picLocks noChangeAspect="1"/>
          </p:cNvPicPr>
          <p:nvPr/>
        </p:nvPicPr>
        <p:blipFill>
          <a:blip r:embed="rId2"/>
          <a:stretch>
            <a:fillRect/>
          </a:stretch>
        </p:blipFill>
        <p:spPr>
          <a:xfrm>
            <a:off x="19094" y="0"/>
            <a:ext cx="12172906" cy="6857999"/>
          </a:xfrm>
          <a:prstGeom prst="rect">
            <a:avLst/>
          </a:prstGeom>
        </p:spPr>
      </p:pic>
    </p:spTree>
    <p:extLst>
      <p:ext uri="{BB962C8B-B14F-4D97-AF65-F5344CB8AC3E}">
        <p14:creationId xmlns:p14="http://schemas.microsoft.com/office/powerpoint/2010/main" val="1007200347"/>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E44A4-80D8-842F-89B2-BC6230CC3298}"/>
              </a:ext>
            </a:extLst>
          </p:cNvPr>
          <p:cNvPicPr>
            <a:picLocks noChangeAspect="1"/>
          </p:cNvPicPr>
          <p:nvPr/>
        </p:nvPicPr>
        <p:blipFill>
          <a:blip r:embed="rId2"/>
          <a:stretch>
            <a:fillRect/>
          </a:stretch>
        </p:blipFill>
        <p:spPr>
          <a:xfrm>
            <a:off x="14364" y="0"/>
            <a:ext cx="11942284" cy="6857999"/>
          </a:xfrm>
          <a:prstGeom prst="rect">
            <a:avLst/>
          </a:prstGeom>
        </p:spPr>
      </p:pic>
    </p:spTree>
    <p:extLst>
      <p:ext uri="{BB962C8B-B14F-4D97-AF65-F5344CB8AC3E}">
        <p14:creationId xmlns:p14="http://schemas.microsoft.com/office/powerpoint/2010/main" val="2313023198"/>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B30A04-2F38-30D2-5051-69A18350FEBB}"/>
              </a:ext>
            </a:extLst>
          </p:cNvPr>
          <p:cNvPicPr>
            <a:picLocks noChangeAspect="1"/>
          </p:cNvPicPr>
          <p:nvPr/>
        </p:nvPicPr>
        <p:blipFill>
          <a:blip r:embed="rId2"/>
          <a:stretch>
            <a:fillRect/>
          </a:stretch>
        </p:blipFill>
        <p:spPr>
          <a:xfrm>
            <a:off x="1030147" y="97014"/>
            <a:ext cx="10076828" cy="6627877"/>
          </a:xfrm>
          <a:prstGeom prst="rect">
            <a:avLst/>
          </a:prstGeom>
        </p:spPr>
      </p:pic>
    </p:spTree>
    <p:extLst>
      <p:ext uri="{BB962C8B-B14F-4D97-AF65-F5344CB8AC3E}">
        <p14:creationId xmlns:p14="http://schemas.microsoft.com/office/powerpoint/2010/main" val="3734151323"/>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D15A04-BF8F-413D-3274-8E8916F47F71}"/>
              </a:ext>
            </a:extLst>
          </p:cNvPr>
          <p:cNvSpPr txBox="1"/>
          <p:nvPr/>
        </p:nvSpPr>
        <p:spPr>
          <a:xfrm>
            <a:off x="682907" y="240017"/>
            <a:ext cx="11273741" cy="707886"/>
          </a:xfrm>
          <a:prstGeom prst="rect">
            <a:avLst/>
          </a:prstGeom>
          <a:noFill/>
        </p:spPr>
        <p:txBody>
          <a:bodyPr wrap="square">
            <a:spAutoFit/>
          </a:bodyPr>
          <a:lstStyle/>
          <a:p>
            <a:pPr>
              <a:spcBef>
                <a:spcPts val="1089"/>
              </a:spcBef>
              <a:spcAft>
                <a:spcPts val="726"/>
              </a:spcAft>
              <a:buNone/>
            </a:pPr>
            <a:r>
              <a:rPr lang="en-US" sz="4000" b="0" i="0" dirty="0">
                <a:solidFill>
                  <a:schemeClr val="accent1">
                    <a:lumMod val="75000"/>
                  </a:schemeClr>
                </a:solidFill>
                <a:effectLst/>
                <a:latin typeface="Arial Black" panose="020B0A04020102020204" pitchFamily="34" charset="0"/>
              </a:rPr>
              <a:t>IMPACT OF RATINGS ON PLACEMENTS</a:t>
            </a:r>
          </a:p>
        </p:txBody>
      </p:sp>
      <p:pic>
        <p:nvPicPr>
          <p:cNvPr id="7" name="Picture 6">
            <a:extLst>
              <a:ext uri="{FF2B5EF4-FFF2-40B4-BE49-F238E27FC236}">
                <a16:creationId xmlns:a16="http://schemas.microsoft.com/office/drawing/2014/main" id="{AD9C4A55-43AC-CA85-DFFC-012A1A27F352}"/>
              </a:ext>
            </a:extLst>
          </p:cNvPr>
          <p:cNvPicPr>
            <a:picLocks noChangeAspect="1"/>
          </p:cNvPicPr>
          <p:nvPr/>
        </p:nvPicPr>
        <p:blipFill>
          <a:blip r:embed="rId2"/>
          <a:stretch>
            <a:fillRect/>
          </a:stretch>
        </p:blipFill>
        <p:spPr>
          <a:xfrm>
            <a:off x="1354276" y="1041722"/>
            <a:ext cx="9931001" cy="5816278"/>
          </a:xfrm>
          <a:prstGeom prst="rect">
            <a:avLst/>
          </a:prstGeom>
        </p:spPr>
      </p:pic>
    </p:spTree>
    <p:extLst>
      <p:ext uri="{BB962C8B-B14F-4D97-AF65-F5344CB8AC3E}">
        <p14:creationId xmlns:p14="http://schemas.microsoft.com/office/powerpoint/2010/main" val="876458639"/>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F59B3B-03B7-DCE0-A85F-6648EBC67962}"/>
              </a:ext>
            </a:extLst>
          </p:cNvPr>
          <p:cNvPicPr>
            <a:picLocks noChangeAspect="1"/>
          </p:cNvPicPr>
          <p:nvPr/>
        </p:nvPicPr>
        <p:blipFill>
          <a:blip r:embed="rId2"/>
          <a:stretch>
            <a:fillRect/>
          </a:stretch>
        </p:blipFill>
        <p:spPr>
          <a:xfrm>
            <a:off x="326020" y="752354"/>
            <a:ext cx="11539959" cy="6105646"/>
          </a:xfrm>
          <a:prstGeom prst="rect">
            <a:avLst/>
          </a:prstGeom>
        </p:spPr>
      </p:pic>
      <p:sp>
        <p:nvSpPr>
          <p:cNvPr id="4" name="TextBox 3">
            <a:extLst>
              <a:ext uri="{FF2B5EF4-FFF2-40B4-BE49-F238E27FC236}">
                <a16:creationId xmlns:a16="http://schemas.microsoft.com/office/drawing/2014/main" id="{078027AE-8F45-81EC-E5E5-74FCB98D1409}"/>
              </a:ext>
            </a:extLst>
          </p:cNvPr>
          <p:cNvSpPr txBox="1"/>
          <p:nvPr/>
        </p:nvSpPr>
        <p:spPr>
          <a:xfrm flipH="1">
            <a:off x="2615878" y="229134"/>
            <a:ext cx="8391646" cy="523220"/>
          </a:xfrm>
          <a:prstGeom prst="rect">
            <a:avLst/>
          </a:prstGeom>
          <a:noFill/>
        </p:spPr>
        <p:txBody>
          <a:bodyPr wrap="square" rtlCol="0">
            <a:spAutoFit/>
          </a:bodyPr>
          <a:lstStyle/>
          <a:p>
            <a:r>
              <a:rPr lang="en-US" sz="2800" dirty="0">
                <a:solidFill>
                  <a:schemeClr val="accent1">
                    <a:lumMod val="75000"/>
                  </a:schemeClr>
                </a:solidFill>
                <a:latin typeface="Arial Black" panose="020B0A04020102020204" pitchFamily="34" charset="0"/>
              </a:rPr>
              <a:t>TOP 20 AFFORDABLE ELITE COLLEGES</a:t>
            </a:r>
          </a:p>
        </p:txBody>
      </p:sp>
    </p:spTree>
    <p:extLst>
      <p:ext uri="{BB962C8B-B14F-4D97-AF65-F5344CB8AC3E}">
        <p14:creationId xmlns:p14="http://schemas.microsoft.com/office/powerpoint/2010/main" val="1437676491"/>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3A4940-AF90-67CB-F56E-E92BF56F954B}"/>
              </a:ext>
            </a:extLst>
          </p:cNvPr>
          <p:cNvPicPr>
            <a:picLocks noChangeAspect="1"/>
          </p:cNvPicPr>
          <p:nvPr/>
        </p:nvPicPr>
        <p:blipFill>
          <a:blip r:embed="rId2"/>
          <a:stretch>
            <a:fillRect/>
          </a:stretch>
        </p:blipFill>
        <p:spPr>
          <a:xfrm>
            <a:off x="216311" y="973394"/>
            <a:ext cx="11798708" cy="5884606"/>
          </a:xfrm>
          <a:prstGeom prst="rect">
            <a:avLst/>
          </a:prstGeom>
        </p:spPr>
      </p:pic>
      <p:sp>
        <p:nvSpPr>
          <p:cNvPr id="4" name="TextBox 3">
            <a:extLst>
              <a:ext uri="{FF2B5EF4-FFF2-40B4-BE49-F238E27FC236}">
                <a16:creationId xmlns:a16="http://schemas.microsoft.com/office/drawing/2014/main" id="{4A62BB8A-671C-3390-D5F5-A5076E9911E8}"/>
              </a:ext>
            </a:extLst>
          </p:cNvPr>
          <p:cNvSpPr txBox="1"/>
          <p:nvPr/>
        </p:nvSpPr>
        <p:spPr>
          <a:xfrm>
            <a:off x="1858296" y="127819"/>
            <a:ext cx="8731045" cy="584775"/>
          </a:xfrm>
          <a:prstGeom prst="rect">
            <a:avLst/>
          </a:prstGeom>
          <a:noFill/>
        </p:spPr>
        <p:txBody>
          <a:bodyPr wrap="square" rtlCol="0">
            <a:spAutoFit/>
          </a:bodyPr>
          <a:lstStyle/>
          <a:p>
            <a:r>
              <a:rPr lang="en-US" sz="3200" dirty="0">
                <a:solidFill>
                  <a:schemeClr val="accent1">
                    <a:lumMod val="75000"/>
                  </a:schemeClr>
                </a:solidFill>
                <a:latin typeface="Arial Black" panose="020B0A04020102020204" pitchFamily="34" charset="0"/>
              </a:rPr>
              <a:t>BEST EXAM TO GET GOOD COLLEGE</a:t>
            </a:r>
          </a:p>
        </p:txBody>
      </p:sp>
    </p:spTree>
    <p:extLst>
      <p:ext uri="{BB962C8B-B14F-4D97-AF65-F5344CB8AC3E}">
        <p14:creationId xmlns:p14="http://schemas.microsoft.com/office/powerpoint/2010/main" val="397326311"/>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FC0487-7EE9-F41C-7D25-21017191206A}"/>
              </a:ext>
            </a:extLst>
          </p:cNvPr>
          <p:cNvPicPr>
            <a:picLocks noChangeAspect="1"/>
          </p:cNvPicPr>
          <p:nvPr/>
        </p:nvPicPr>
        <p:blipFill>
          <a:blip r:embed="rId2"/>
          <a:stretch>
            <a:fillRect/>
          </a:stretch>
        </p:blipFill>
        <p:spPr>
          <a:xfrm>
            <a:off x="1530960" y="1186063"/>
            <a:ext cx="9432009" cy="5098632"/>
          </a:xfrm>
          <a:prstGeom prst="rect">
            <a:avLst/>
          </a:prstGeom>
        </p:spPr>
      </p:pic>
      <p:sp>
        <p:nvSpPr>
          <p:cNvPr id="4" name="TextBox 3">
            <a:extLst>
              <a:ext uri="{FF2B5EF4-FFF2-40B4-BE49-F238E27FC236}">
                <a16:creationId xmlns:a16="http://schemas.microsoft.com/office/drawing/2014/main" id="{49F064FC-982E-10DE-DB42-C837EA48BFAB}"/>
              </a:ext>
            </a:extLst>
          </p:cNvPr>
          <p:cNvSpPr txBox="1"/>
          <p:nvPr/>
        </p:nvSpPr>
        <p:spPr>
          <a:xfrm>
            <a:off x="1160206" y="78658"/>
            <a:ext cx="9379975" cy="646331"/>
          </a:xfrm>
          <a:prstGeom prst="rect">
            <a:avLst/>
          </a:prstGeom>
          <a:noFill/>
        </p:spPr>
        <p:txBody>
          <a:bodyPr wrap="square" rtlCol="0">
            <a:spAutoFit/>
          </a:bodyPr>
          <a:lstStyle/>
          <a:p>
            <a:r>
              <a:rPr lang="en-US" sz="3600" dirty="0">
                <a:solidFill>
                  <a:schemeClr val="accent1">
                    <a:lumMod val="75000"/>
                  </a:schemeClr>
                </a:solidFill>
                <a:latin typeface="Arial Black" panose="020B0A04020102020204" pitchFamily="34" charset="0"/>
              </a:rPr>
              <a:t>TOP EXAM TO GET GOOD COLLEGE</a:t>
            </a:r>
          </a:p>
        </p:txBody>
      </p:sp>
    </p:spTree>
    <p:extLst>
      <p:ext uri="{BB962C8B-B14F-4D97-AF65-F5344CB8AC3E}">
        <p14:creationId xmlns:p14="http://schemas.microsoft.com/office/powerpoint/2010/main" val="1435293382"/>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80E464-C3AA-78A2-C05E-5F0EA56CBD2E}"/>
              </a:ext>
            </a:extLst>
          </p:cNvPr>
          <p:cNvSpPr txBox="1"/>
          <p:nvPr/>
        </p:nvSpPr>
        <p:spPr>
          <a:xfrm>
            <a:off x="3716593" y="334297"/>
            <a:ext cx="7973961" cy="707886"/>
          </a:xfrm>
          <a:prstGeom prst="rect">
            <a:avLst/>
          </a:prstGeom>
          <a:noFill/>
        </p:spPr>
        <p:txBody>
          <a:bodyPr wrap="square" rtlCol="0">
            <a:spAutoFit/>
          </a:bodyPr>
          <a:lstStyle/>
          <a:p>
            <a:r>
              <a:rPr lang="en-US" sz="4000" dirty="0">
                <a:solidFill>
                  <a:schemeClr val="accent1">
                    <a:lumMod val="75000"/>
                  </a:schemeClr>
                </a:solidFill>
                <a:latin typeface="Arial Black" panose="020B0A04020102020204" pitchFamily="34" charset="0"/>
              </a:rPr>
              <a:t>CONCLUSION</a:t>
            </a:r>
          </a:p>
        </p:txBody>
      </p:sp>
      <p:sp>
        <p:nvSpPr>
          <p:cNvPr id="3" name="TextBox 2">
            <a:extLst>
              <a:ext uri="{FF2B5EF4-FFF2-40B4-BE49-F238E27FC236}">
                <a16:creationId xmlns:a16="http://schemas.microsoft.com/office/drawing/2014/main" id="{06CC881F-0416-66C1-A296-1A310FA93ECB}"/>
              </a:ext>
            </a:extLst>
          </p:cNvPr>
          <p:cNvSpPr txBox="1"/>
          <p:nvPr/>
        </p:nvSpPr>
        <p:spPr>
          <a:xfrm>
            <a:off x="462115" y="2556387"/>
            <a:ext cx="6892414" cy="2677656"/>
          </a:xfrm>
          <a:prstGeom prst="rect">
            <a:avLst/>
          </a:prstGeom>
          <a:noFill/>
        </p:spPr>
        <p:txBody>
          <a:bodyPr wrap="square" rtlCol="0">
            <a:spAutoFit/>
          </a:bodyPr>
          <a:lstStyle/>
          <a:p>
            <a:pPr algn="just"/>
            <a:r>
              <a:rPr lang="en-US" sz="2400" dirty="0">
                <a:latin typeface="Sitka Heading Semibold" pitchFamily="2" charset="0"/>
              </a:rPr>
              <a:t>In this project, we analyzed college data to help students make better decisions while choosing the right college. The study highlighted the importance of ROI by comparing average fees with placement packages, identified top entrance exams, and revealed affordable colleges that still provide good placement opportunities. </a:t>
            </a:r>
          </a:p>
        </p:txBody>
      </p:sp>
      <p:pic>
        <p:nvPicPr>
          <p:cNvPr id="5" name="Picture 4">
            <a:extLst>
              <a:ext uri="{FF2B5EF4-FFF2-40B4-BE49-F238E27FC236}">
                <a16:creationId xmlns:a16="http://schemas.microsoft.com/office/drawing/2014/main" id="{0D93FB1C-CC21-1930-6B59-604904097E7C}"/>
              </a:ext>
            </a:extLst>
          </p:cNvPr>
          <p:cNvPicPr>
            <a:picLocks noChangeAspect="1"/>
          </p:cNvPicPr>
          <p:nvPr/>
        </p:nvPicPr>
        <p:blipFill>
          <a:blip r:embed="rId2"/>
          <a:stretch>
            <a:fillRect/>
          </a:stretch>
        </p:blipFill>
        <p:spPr>
          <a:xfrm>
            <a:off x="7458721" y="1524000"/>
            <a:ext cx="4408813" cy="4524315"/>
          </a:xfrm>
          <a:prstGeom prst="rect">
            <a:avLst/>
          </a:prstGeom>
          <a:ln>
            <a:noFill/>
          </a:ln>
          <a:effectLst>
            <a:softEdge rad="112500"/>
          </a:effectLst>
        </p:spPr>
      </p:pic>
    </p:spTree>
    <p:extLst>
      <p:ext uri="{BB962C8B-B14F-4D97-AF65-F5344CB8AC3E}">
        <p14:creationId xmlns:p14="http://schemas.microsoft.com/office/powerpoint/2010/main" val="3054357731"/>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C5C493-AF17-504E-2981-5590D98301F6}"/>
              </a:ext>
            </a:extLst>
          </p:cNvPr>
          <p:cNvSpPr txBox="1"/>
          <p:nvPr/>
        </p:nvSpPr>
        <p:spPr>
          <a:xfrm>
            <a:off x="1351877" y="1027471"/>
            <a:ext cx="10176387" cy="1505605"/>
          </a:xfrm>
          <a:prstGeom prst="rect">
            <a:avLst/>
          </a:prstGeom>
          <a:noFill/>
        </p:spPr>
        <p:txBody>
          <a:bodyPr wrap="square">
            <a:spAutoFit/>
          </a:bodyPr>
          <a:lstStyle/>
          <a:p>
            <a:pPr algn="l">
              <a:lnSpc>
                <a:spcPts val="10787"/>
              </a:lnSpc>
            </a:pPr>
            <a:r>
              <a:rPr lang="en-US" sz="11500" dirty="0">
                <a:latin typeface="Snap ITC" panose="04040A07060A02020202" pitchFamily="82" charset="0"/>
                <a:ea typeface="TT Milks Casual Pie Base"/>
                <a:cs typeface="TT Milks Casual Pie Base"/>
                <a:sym typeface="TT Milks Casual Pie Base"/>
              </a:rPr>
              <a:t>Thank you !</a:t>
            </a:r>
          </a:p>
        </p:txBody>
      </p:sp>
      <p:pic>
        <p:nvPicPr>
          <p:cNvPr id="7" name="Picture 6">
            <a:extLst>
              <a:ext uri="{FF2B5EF4-FFF2-40B4-BE49-F238E27FC236}">
                <a16:creationId xmlns:a16="http://schemas.microsoft.com/office/drawing/2014/main" id="{E154F5A1-653F-BDE7-62BA-C035311DF925}"/>
              </a:ext>
            </a:extLst>
          </p:cNvPr>
          <p:cNvPicPr>
            <a:picLocks noChangeAspect="1"/>
          </p:cNvPicPr>
          <p:nvPr/>
        </p:nvPicPr>
        <p:blipFill>
          <a:blip r:embed="rId2"/>
          <a:stretch>
            <a:fillRect/>
          </a:stretch>
        </p:blipFill>
        <p:spPr>
          <a:xfrm>
            <a:off x="7216669" y="2730910"/>
            <a:ext cx="2792837" cy="3099619"/>
          </a:xfrm>
          <a:prstGeom prst="rect">
            <a:avLst/>
          </a:prstGeom>
          <a:ln>
            <a:noFill/>
          </a:ln>
          <a:effectLst>
            <a:softEdge rad="112500"/>
          </a:effectLst>
        </p:spPr>
      </p:pic>
      <p:pic>
        <p:nvPicPr>
          <p:cNvPr id="9" name="Picture 8">
            <a:extLst>
              <a:ext uri="{FF2B5EF4-FFF2-40B4-BE49-F238E27FC236}">
                <a16:creationId xmlns:a16="http://schemas.microsoft.com/office/drawing/2014/main" id="{8144969C-F75B-B0A8-B3F4-508B871286EE}"/>
              </a:ext>
            </a:extLst>
          </p:cNvPr>
          <p:cNvPicPr>
            <a:picLocks noChangeAspect="1"/>
          </p:cNvPicPr>
          <p:nvPr/>
        </p:nvPicPr>
        <p:blipFill>
          <a:blip r:embed="rId3"/>
          <a:stretch>
            <a:fillRect/>
          </a:stretch>
        </p:blipFill>
        <p:spPr>
          <a:xfrm>
            <a:off x="3244378" y="2822473"/>
            <a:ext cx="3195693" cy="3008056"/>
          </a:xfrm>
          <a:prstGeom prst="rect">
            <a:avLst/>
          </a:prstGeom>
          <a:ln>
            <a:noFill/>
          </a:ln>
          <a:effectLst>
            <a:softEdge rad="112500"/>
          </a:effectLst>
        </p:spPr>
      </p:pic>
    </p:spTree>
    <p:extLst>
      <p:ext uri="{BB962C8B-B14F-4D97-AF65-F5344CB8AC3E}">
        <p14:creationId xmlns:p14="http://schemas.microsoft.com/office/powerpoint/2010/main" val="1329127697"/>
      </p:ext>
    </p:extLst>
  </p:cSld>
  <p:clrMapOvr>
    <a:masterClrMapping/>
  </p:clrMapOvr>
  <mc:AlternateContent xmlns:mc="http://schemas.openxmlformats.org/markup-compatibility/2006" xmlns:p14="http://schemas.microsoft.com/office/powerpoint/2010/main">
    <mc:Choice Requires="p14">
      <p:transition spd="slow" p14:dur="25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8240</TotalTime>
  <Words>696</Words>
  <Application>Microsoft Office PowerPoint</Application>
  <PresentationFormat>Widescreen</PresentationFormat>
  <Paragraphs>78</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Black</vt:lpstr>
      <vt:lpstr>Calibri</vt:lpstr>
      <vt:lpstr>Calibri Light</vt:lpstr>
      <vt:lpstr>Sitka Heading Semibold</vt:lpstr>
      <vt:lpstr>Sitka Subheading Semibold</vt:lpstr>
      <vt:lpstr>Snap ITC</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kadu</dc:creator>
  <cp:lastModifiedBy>jay kadu</cp:lastModifiedBy>
  <cp:revision>9</cp:revision>
  <dcterms:created xsi:type="dcterms:W3CDTF">2025-08-28T05:57:02Z</dcterms:created>
  <dcterms:modified xsi:type="dcterms:W3CDTF">2025-09-03T17:04:56Z</dcterms:modified>
</cp:coreProperties>
</file>